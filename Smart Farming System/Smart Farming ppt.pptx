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9" r:id="rId4"/>
    <p:sldId id="269" r:id="rId5"/>
    <p:sldId id="265" r:id="rId6"/>
    <p:sldId id="268" r:id="rId7"/>
    <p:sldId id="260" r:id="rId8"/>
    <p:sldId id="270" r:id="rId9"/>
    <p:sldId id="262" r:id="rId10"/>
    <p:sldId id="263" r:id="rId11"/>
    <p:sldId id="267" r:id="rId12"/>
    <p:sldId id="264" r:id="rId13"/>
    <p:sldId id="266" r:id="rId14"/>
    <p:sldId id="271" r:id="rId15"/>
    <p:sldId id="272" r:id="rId16"/>
    <p:sldId id="273" r:id="rId17"/>
    <p:sldId id="274" r:id="rId18"/>
    <p:sldId id="275" r:id="rId19"/>
    <p:sldId id="276" r:id="rId20"/>
    <p:sldId id="277" r:id="rId21"/>
    <p:sldId id="278"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43" y="-25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9FCBC4-00E0-4391-A705-050BFEC5040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2DD2A9E-304C-4071-891A-40103E84986E}">
      <dgm:prSet/>
      <dgm:spPr/>
      <dgm:t>
        <a:bodyPr/>
        <a:lstStyle/>
        <a:p>
          <a:pPr>
            <a:lnSpc>
              <a:spcPct val="100000"/>
            </a:lnSpc>
          </a:pPr>
          <a:r>
            <a:rPr lang="en-US"/>
            <a:t>High accuracy in image-based classification tasks.</a:t>
          </a:r>
        </a:p>
      </dgm:t>
    </dgm:pt>
    <dgm:pt modelId="{7A9E9AE6-8ED8-42D8-8B4C-5142AFC77809}" type="parTrans" cxnId="{2577D7AE-D563-422A-895A-A5CFDFA8F915}">
      <dgm:prSet/>
      <dgm:spPr/>
      <dgm:t>
        <a:bodyPr/>
        <a:lstStyle/>
        <a:p>
          <a:endParaRPr lang="en-US"/>
        </a:p>
      </dgm:t>
    </dgm:pt>
    <dgm:pt modelId="{B95318CC-1708-4B59-A660-E13BCB16980C}" type="sibTrans" cxnId="{2577D7AE-D563-422A-895A-A5CFDFA8F915}">
      <dgm:prSet/>
      <dgm:spPr/>
      <dgm:t>
        <a:bodyPr/>
        <a:lstStyle/>
        <a:p>
          <a:endParaRPr lang="en-US"/>
        </a:p>
      </dgm:t>
    </dgm:pt>
    <dgm:pt modelId="{218148B1-D125-497E-8DA8-6F4991DF75E7}">
      <dgm:prSet/>
      <dgm:spPr/>
      <dgm:t>
        <a:bodyPr/>
        <a:lstStyle/>
        <a:p>
          <a:pPr>
            <a:lnSpc>
              <a:spcPct val="100000"/>
            </a:lnSpc>
          </a:pPr>
          <a:r>
            <a:rPr lang="en-US"/>
            <a:t>Automated feature extraction, reducing manual effort.</a:t>
          </a:r>
        </a:p>
      </dgm:t>
    </dgm:pt>
    <dgm:pt modelId="{A1DB2D86-1FC1-46B3-844E-B5EAA35EA255}" type="parTrans" cxnId="{2CCA219E-B4B2-47E9-A58E-2FACB7DF1C2D}">
      <dgm:prSet/>
      <dgm:spPr/>
      <dgm:t>
        <a:bodyPr/>
        <a:lstStyle/>
        <a:p>
          <a:endParaRPr lang="en-US"/>
        </a:p>
      </dgm:t>
    </dgm:pt>
    <dgm:pt modelId="{28082320-A2BF-4B12-A217-468E75FAE2CC}" type="sibTrans" cxnId="{2CCA219E-B4B2-47E9-A58E-2FACB7DF1C2D}">
      <dgm:prSet/>
      <dgm:spPr/>
      <dgm:t>
        <a:bodyPr/>
        <a:lstStyle/>
        <a:p>
          <a:endParaRPr lang="en-US"/>
        </a:p>
      </dgm:t>
    </dgm:pt>
    <dgm:pt modelId="{CF4BF629-FF76-4840-B6B1-D6A1AD51356E}">
      <dgm:prSet/>
      <dgm:spPr/>
      <dgm:t>
        <a:bodyPr/>
        <a:lstStyle/>
        <a:p>
          <a:pPr>
            <a:lnSpc>
              <a:spcPct val="100000"/>
            </a:lnSpc>
          </a:pPr>
          <a:r>
            <a:rPr lang="en-US"/>
            <a:t>Scalable for large datasets collected from drones and IoT cameras/Sensors</a:t>
          </a:r>
        </a:p>
      </dgm:t>
    </dgm:pt>
    <dgm:pt modelId="{054C7CD0-946E-49FF-A216-D00915B47755}" type="parTrans" cxnId="{2953B3D6-F21B-4AE1-8B4A-95F530E9C775}">
      <dgm:prSet/>
      <dgm:spPr/>
      <dgm:t>
        <a:bodyPr/>
        <a:lstStyle/>
        <a:p>
          <a:endParaRPr lang="en-US"/>
        </a:p>
      </dgm:t>
    </dgm:pt>
    <dgm:pt modelId="{C4533148-A270-44D0-984F-824DD3A5E2BD}" type="sibTrans" cxnId="{2953B3D6-F21B-4AE1-8B4A-95F530E9C775}">
      <dgm:prSet/>
      <dgm:spPr/>
      <dgm:t>
        <a:bodyPr/>
        <a:lstStyle/>
        <a:p>
          <a:endParaRPr lang="en-US"/>
        </a:p>
      </dgm:t>
    </dgm:pt>
    <dgm:pt modelId="{7FAEBBC3-365B-4335-BFD9-98EF1E4B1026}">
      <dgm:prSet/>
      <dgm:spPr/>
      <dgm:t>
        <a:bodyPr/>
        <a:lstStyle/>
        <a:p>
          <a:pPr>
            <a:lnSpc>
              <a:spcPct val="100000"/>
            </a:lnSpc>
          </a:pPr>
          <a:r>
            <a:rPr lang="en-US"/>
            <a:t>Handles sequential &amp; time-series data efficiently.</a:t>
          </a:r>
        </a:p>
      </dgm:t>
    </dgm:pt>
    <dgm:pt modelId="{0BCAA670-A5A4-490B-A93D-744DB8CF1EB9}" type="parTrans" cxnId="{0BE08D92-48CD-4263-9A67-AFA89CF89397}">
      <dgm:prSet/>
      <dgm:spPr/>
      <dgm:t>
        <a:bodyPr/>
        <a:lstStyle/>
        <a:p>
          <a:endParaRPr lang="en-US"/>
        </a:p>
      </dgm:t>
    </dgm:pt>
    <dgm:pt modelId="{1D550ADF-C99D-4D3D-AAE2-789DE2AE8254}" type="sibTrans" cxnId="{0BE08D92-48CD-4263-9A67-AFA89CF89397}">
      <dgm:prSet/>
      <dgm:spPr/>
      <dgm:t>
        <a:bodyPr/>
        <a:lstStyle/>
        <a:p>
          <a:endParaRPr lang="en-US"/>
        </a:p>
      </dgm:t>
    </dgm:pt>
    <dgm:pt modelId="{C50BA403-E0A3-4199-9FDD-4FA0C9A1B539}">
      <dgm:prSet/>
      <dgm:spPr/>
      <dgm:t>
        <a:bodyPr/>
        <a:lstStyle/>
        <a:p>
          <a:pPr>
            <a:lnSpc>
              <a:spcPct val="100000"/>
            </a:lnSpc>
          </a:pPr>
          <a:r>
            <a:rPr lang="en-US"/>
            <a:t>Learns long-term dependencies, making it useful for weather &amp; crop predictions</a:t>
          </a:r>
        </a:p>
      </dgm:t>
    </dgm:pt>
    <dgm:pt modelId="{A3646584-FE04-419B-BA87-F38EBEDBFE80}" type="parTrans" cxnId="{F0490709-5A79-4FBE-BD61-789F209C52C1}">
      <dgm:prSet/>
      <dgm:spPr/>
      <dgm:t>
        <a:bodyPr/>
        <a:lstStyle/>
        <a:p>
          <a:endParaRPr lang="en-US"/>
        </a:p>
      </dgm:t>
    </dgm:pt>
    <dgm:pt modelId="{88D8DD37-207E-4801-AB45-1AE917E5889A}" type="sibTrans" cxnId="{F0490709-5A79-4FBE-BD61-789F209C52C1}">
      <dgm:prSet/>
      <dgm:spPr/>
      <dgm:t>
        <a:bodyPr/>
        <a:lstStyle/>
        <a:p>
          <a:endParaRPr lang="en-US"/>
        </a:p>
      </dgm:t>
    </dgm:pt>
    <dgm:pt modelId="{75AECD5F-2C44-4AE5-BBEE-43EE45AD663A}" type="pres">
      <dgm:prSet presAssocID="{469FCBC4-00E0-4391-A705-050BFEC5040E}" presName="root" presStyleCnt="0">
        <dgm:presLayoutVars>
          <dgm:dir/>
          <dgm:resizeHandles val="exact"/>
        </dgm:presLayoutVars>
      </dgm:prSet>
      <dgm:spPr/>
    </dgm:pt>
    <dgm:pt modelId="{D7A60E3F-9151-44AD-96F5-BC81195D1BEB}" type="pres">
      <dgm:prSet presAssocID="{82DD2A9E-304C-4071-891A-40103E84986E}" presName="compNode" presStyleCnt="0"/>
      <dgm:spPr/>
    </dgm:pt>
    <dgm:pt modelId="{B60616FA-D911-4392-B5AC-D2411CE82AB0}" type="pres">
      <dgm:prSet presAssocID="{82DD2A9E-304C-4071-891A-40103E84986E}" presName="bgRect" presStyleLbl="bgShp" presStyleIdx="0" presStyleCnt="5"/>
      <dgm:spPr/>
    </dgm:pt>
    <dgm:pt modelId="{7A628118-7E92-4EEB-BFCF-1FF35D3185E5}" type="pres">
      <dgm:prSet presAssocID="{82DD2A9E-304C-4071-891A-40103E84986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ullseye"/>
        </a:ext>
      </dgm:extLst>
    </dgm:pt>
    <dgm:pt modelId="{B76D2660-98AD-446E-B66C-8C4DA029E747}" type="pres">
      <dgm:prSet presAssocID="{82DD2A9E-304C-4071-891A-40103E84986E}" presName="spaceRect" presStyleCnt="0"/>
      <dgm:spPr/>
    </dgm:pt>
    <dgm:pt modelId="{693C6289-7CA2-447E-A09C-31664819B52C}" type="pres">
      <dgm:prSet presAssocID="{82DD2A9E-304C-4071-891A-40103E84986E}" presName="parTx" presStyleLbl="revTx" presStyleIdx="0" presStyleCnt="5">
        <dgm:presLayoutVars>
          <dgm:chMax val="0"/>
          <dgm:chPref val="0"/>
        </dgm:presLayoutVars>
      </dgm:prSet>
      <dgm:spPr/>
    </dgm:pt>
    <dgm:pt modelId="{1DAC63E7-7872-4D94-B14D-00027C4F47E1}" type="pres">
      <dgm:prSet presAssocID="{B95318CC-1708-4B59-A660-E13BCB16980C}" presName="sibTrans" presStyleCnt="0"/>
      <dgm:spPr/>
    </dgm:pt>
    <dgm:pt modelId="{A83BDF96-0D73-4F7F-92F1-3E86007854F7}" type="pres">
      <dgm:prSet presAssocID="{218148B1-D125-497E-8DA8-6F4991DF75E7}" presName="compNode" presStyleCnt="0"/>
      <dgm:spPr/>
    </dgm:pt>
    <dgm:pt modelId="{1C975A5F-A938-4075-B1A5-44A69F56D54E}" type="pres">
      <dgm:prSet presAssocID="{218148B1-D125-497E-8DA8-6F4991DF75E7}" presName="bgRect" presStyleLbl="bgShp" presStyleIdx="1" presStyleCnt="5"/>
      <dgm:spPr/>
    </dgm:pt>
    <dgm:pt modelId="{E628DBFC-1C04-4E78-9391-10DCE7FBF62D}" type="pres">
      <dgm:prSet presAssocID="{218148B1-D125-497E-8DA8-6F4991DF75E7}"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0EEF4C08-A6CE-4D86-B5C4-1E2FD0AC55D1}" type="pres">
      <dgm:prSet presAssocID="{218148B1-D125-497E-8DA8-6F4991DF75E7}" presName="spaceRect" presStyleCnt="0"/>
      <dgm:spPr/>
    </dgm:pt>
    <dgm:pt modelId="{C6E52E28-5A3D-4E3D-943D-CDEA14533331}" type="pres">
      <dgm:prSet presAssocID="{218148B1-D125-497E-8DA8-6F4991DF75E7}" presName="parTx" presStyleLbl="revTx" presStyleIdx="1" presStyleCnt="5">
        <dgm:presLayoutVars>
          <dgm:chMax val="0"/>
          <dgm:chPref val="0"/>
        </dgm:presLayoutVars>
      </dgm:prSet>
      <dgm:spPr/>
    </dgm:pt>
    <dgm:pt modelId="{6CBA1B7C-1384-4D46-8E99-1D968D2068D6}" type="pres">
      <dgm:prSet presAssocID="{28082320-A2BF-4B12-A217-468E75FAE2CC}" presName="sibTrans" presStyleCnt="0"/>
      <dgm:spPr/>
    </dgm:pt>
    <dgm:pt modelId="{D913E01D-0277-4074-B287-1B94D283A262}" type="pres">
      <dgm:prSet presAssocID="{CF4BF629-FF76-4840-B6B1-D6A1AD51356E}" presName="compNode" presStyleCnt="0"/>
      <dgm:spPr/>
    </dgm:pt>
    <dgm:pt modelId="{4A1AEF4C-034A-473C-A06B-DD2C9A98BA00}" type="pres">
      <dgm:prSet presAssocID="{CF4BF629-FF76-4840-B6B1-D6A1AD51356E}" presName="bgRect" presStyleLbl="bgShp" presStyleIdx="2" presStyleCnt="5"/>
      <dgm:spPr/>
    </dgm:pt>
    <dgm:pt modelId="{5C2432CA-999A-4A0A-8ED4-E4B98B7C33B1}" type="pres">
      <dgm:prSet presAssocID="{CF4BF629-FF76-4840-B6B1-D6A1AD51356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Robot"/>
        </a:ext>
      </dgm:extLst>
    </dgm:pt>
    <dgm:pt modelId="{5E8ADD47-E61E-46DE-8ADC-1C61E459DFCD}" type="pres">
      <dgm:prSet presAssocID="{CF4BF629-FF76-4840-B6B1-D6A1AD51356E}" presName="spaceRect" presStyleCnt="0"/>
      <dgm:spPr/>
    </dgm:pt>
    <dgm:pt modelId="{7A5495E3-AF05-44B8-859A-5960E31A4A67}" type="pres">
      <dgm:prSet presAssocID="{CF4BF629-FF76-4840-B6B1-D6A1AD51356E}" presName="parTx" presStyleLbl="revTx" presStyleIdx="2" presStyleCnt="5">
        <dgm:presLayoutVars>
          <dgm:chMax val="0"/>
          <dgm:chPref val="0"/>
        </dgm:presLayoutVars>
      </dgm:prSet>
      <dgm:spPr/>
    </dgm:pt>
    <dgm:pt modelId="{EE2AAA8C-B386-42AF-B037-4A750FA53A3B}" type="pres">
      <dgm:prSet presAssocID="{C4533148-A270-44D0-984F-824DD3A5E2BD}" presName="sibTrans" presStyleCnt="0"/>
      <dgm:spPr/>
    </dgm:pt>
    <dgm:pt modelId="{661867E2-2C99-48C6-9B25-0EB6A8246D58}" type="pres">
      <dgm:prSet presAssocID="{7FAEBBC3-365B-4335-BFD9-98EF1E4B1026}" presName="compNode" presStyleCnt="0"/>
      <dgm:spPr/>
    </dgm:pt>
    <dgm:pt modelId="{39853109-DBEB-4EDE-841D-AB06DE9ADC88}" type="pres">
      <dgm:prSet presAssocID="{7FAEBBC3-365B-4335-BFD9-98EF1E4B1026}" presName="bgRect" presStyleLbl="bgShp" presStyleIdx="3" presStyleCnt="5"/>
      <dgm:spPr/>
    </dgm:pt>
    <dgm:pt modelId="{8B2C7264-4441-45AA-BA6A-BB41D30259F8}" type="pres">
      <dgm:prSet presAssocID="{7FAEBBC3-365B-4335-BFD9-98EF1E4B102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opwatch"/>
        </a:ext>
      </dgm:extLst>
    </dgm:pt>
    <dgm:pt modelId="{91B95B76-76F8-4DA7-BB09-17F9FA929F5F}" type="pres">
      <dgm:prSet presAssocID="{7FAEBBC3-365B-4335-BFD9-98EF1E4B1026}" presName="spaceRect" presStyleCnt="0"/>
      <dgm:spPr/>
    </dgm:pt>
    <dgm:pt modelId="{EB33ED3E-EC31-4940-9481-E4A1E923A5E6}" type="pres">
      <dgm:prSet presAssocID="{7FAEBBC3-365B-4335-BFD9-98EF1E4B1026}" presName="parTx" presStyleLbl="revTx" presStyleIdx="3" presStyleCnt="5">
        <dgm:presLayoutVars>
          <dgm:chMax val="0"/>
          <dgm:chPref val="0"/>
        </dgm:presLayoutVars>
      </dgm:prSet>
      <dgm:spPr/>
    </dgm:pt>
    <dgm:pt modelId="{9A2AEA51-3FFA-4198-A92C-DD2AE4FC2C7B}" type="pres">
      <dgm:prSet presAssocID="{1D550ADF-C99D-4D3D-AAE2-789DE2AE8254}" presName="sibTrans" presStyleCnt="0"/>
      <dgm:spPr/>
    </dgm:pt>
    <dgm:pt modelId="{EF611A14-7D98-45E9-B311-D6E50E5D2DEB}" type="pres">
      <dgm:prSet presAssocID="{C50BA403-E0A3-4199-9FDD-4FA0C9A1B539}" presName="compNode" presStyleCnt="0"/>
      <dgm:spPr/>
    </dgm:pt>
    <dgm:pt modelId="{E43FE6C9-8C65-48CF-9395-88E11620F410}" type="pres">
      <dgm:prSet presAssocID="{C50BA403-E0A3-4199-9FDD-4FA0C9A1B539}" presName="bgRect" presStyleLbl="bgShp" presStyleIdx="4" presStyleCnt="5"/>
      <dgm:spPr/>
    </dgm:pt>
    <dgm:pt modelId="{99FA1582-D611-4FB9-BA5F-A9F756A88542}" type="pres">
      <dgm:prSet presAssocID="{C50BA403-E0A3-4199-9FDD-4FA0C9A1B53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Rainy scene"/>
        </a:ext>
      </dgm:extLst>
    </dgm:pt>
    <dgm:pt modelId="{4B55F798-7EC9-4591-B5E3-16D5A10EFF45}" type="pres">
      <dgm:prSet presAssocID="{C50BA403-E0A3-4199-9FDD-4FA0C9A1B539}" presName="spaceRect" presStyleCnt="0"/>
      <dgm:spPr/>
    </dgm:pt>
    <dgm:pt modelId="{80AF1446-91FC-4616-AAEF-6FA46B09EE2E}" type="pres">
      <dgm:prSet presAssocID="{C50BA403-E0A3-4199-9FDD-4FA0C9A1B539}" presName="parTx" presStyleLbl="revTx" presStyleIdx="4" presStyleCnt="5">
        <dgm:presLayoutVars>
          <dgm:chMax val="0"/>
          <dgm:chPref val="0"/>
        </dgm:presLayoutVars>
      </dgm:prSet>
      <dgm:spPr/>
    </dgm:pt>
  </dgm:ptLst>
  <dgm:cxnLst>
    <dgm:cxn modelId="{F0490709-5A79-4FBE-BD61-789F209C52C1}" srcId="{469FCBC4-00E0-4391-A705-050BFEC5040E}" destId="{C50BA403-E0A3-4199-9FDD-4FA0C9A1B539}" srcOrd="4" destOrd="0" parTransId="{A3646584-FE04-419B-BA87-F38EBEDBFE80}" sibTransId="{88D8DD37-207E-4801-AB45-1AE917E5889A}"/>
    <dgm:cxn modelId="{DDFE3311-8FCE-40B5-9937-FF865D3B0DDE}" type="presOf" srcId="{7FAEBBC3-365B-4335-BFD9-98EF1E4B1026}" destId="{EB33ED3E-EC31-4940-9481-E4A1E923A5E6}" srcOrd="0" destOrd="0" presId="urn:microsoft.com/office/officeart/2018/2/layout/IconVerticalSolidList"/>
    <dgm:cxn modelId="{B0975621-8BC5-4DFC-BB9E-5CA6F623CFD1}" type="presOf" srcId="{82DD2A9E-304C-4071-891A-40103E84986E}" destId="{693C6289-7CA2-447E-A09C-31664819B52C}" srcOrd="0" destOrd="0" presId="urn:microsoft.com/office/officeart/2018/2/layout/IconVerticalSolidList"/>
    <dgm:cxn modelId="{BBF36E31-BE27-45BA-B5FB-46F3BB2E3BA4}" type="presOf" srcId="{C50BA403-E0A3-4199-9FDD-4FA0C9A1B539}" destId="{80AF1446-91FC-4616-AAEF-6FA46B09EE2E}" srcOrd="0" destOrd="0" presId="urn:microsoft.com/office/officeart/2018/2/layout/IconVerticalSolidList"/>
    <dgm:cxn modelId="{482C6134-6A6C-4332-A901-52221D7034CE}" type="presOf" srcId="{218148B1-D125-497E-8DA8-6F4991DF75E7}" destId="{C6E52E28-5A3D-4E3D-943D-CDEA14533331}" srcOrd="0" destOrd="0" presId="urn:microsoft.com/office/officeart/2018/2/layout/IconVerticalSolidList"/>
    <dgm:cxn modelId="{30856961-07A5-4DFC-B2D3-53C21042A959}" type="presOf" srcId="{469FCBC4-00E0-4391-A705-050BFEC5040E}" destId="{75AECD5F-2C44-4AE5-BBEE-43EE45AD663A}" srcOrd="0" destOrd="0" presId="urn:microsoft.com/office/officeart/2018/2/layout/IconVerticalSolidList"/>
    <dgm:cxn modelId="{0BE08D92-48CD-4263-9A67-AFA89CF89397}" srcId="{469FCBC4-00E0-4391-A705-050BFEC5040E}" destId="{7FAEBBC3-365B-4335-BFD9-98EF1E4B1026}" srcOrd="3" destOrd="0" parTransId="{0BCAA670-A5A4-490B-A93D-744DB8CF1EB9}" sibTransId="{1D550ADF-C99D-4D3D-AAE2-789DE2AE8254}"/>
    <dgm:cxn modelId="{2CCA219E-B4B2-47E9-A58E-2FACB7DF1C2D}" srcId="{469FCBC4-00E0-4391-A705-050BFEC5040E}" destId="{218148B1-D125-497E-8DA8-6F4991DF75E7}" srcOrd="1" destOrd="0" parTransId="{A1DB2D86-1FC1-46B3-844E-B5EAA35EA255}" sibTransId="{28082320-A2BF-4B12-A217-468E75FAE2CC}"/>
    <dgm:cxn modelId="{2577D7AE-D563-422A-895A-A5CFDFA8F915}" srcId="{469FCBC4-00E0-4391-A705-050BFEC5040E}" destId="{82DD2A9E-304C-4071-891A-40103E84986E}" srcOrd="0" destOrd="0" parTransId="{7A9E9AE6-8ED8-42D8-8B4C-5142AFC77809}" sibTransId="{B95318CC-1708-4B59-A660-E13BCB16980C}"/>
    <dgm:cxn modelId="{E06AF7D5-D795-43F7-99BB-A56A42975957}" type="presOf" srcId="{CF4BF629-FF76-4840-B6B1-D6A1AD51356E}" destId="{7A5495E3-AF05-44B8-859A-5960E31A4A67}" srcOrd="0" destOrd="0" presId="urn:microsoft.com/office/officeart/2018/2/layout/IconVerticalSolidList"/>
    <dgm:cxn modelId="{2953B3D6-F21B-4AE1-8B4A-95F530E9C775}" srcId="{469FCBC4-00E0-4391-A705-050BFEC5040E}" destId="{CF4BF629-FF76-4840-B6B1-D6A1AD51356E}" srcOrd="2" destOrd="0" parTransId="{054C7CD0-946E-49FF-A216-D00915B47755}" sibTransId="{C4533148-A270-44D0-984F-824DD3A5E2BD}"/>
    <dgm:cxn modelId="{D324FA41-2A71-4C07-9C31-926D999F2680}" type="presParOf" srcId="{75AECD5F-2C44-4AE5-BBEE-43EE45AD663A}" destId="{D7A60E3F-9151-44AD-96F5-BC81195D1BEB}" srcOrd="0" destOrd="0" presId="urn:microsoft.com/office/officeart/2018/2/layout/IconVerticalSolidList"/>
    <dgm:cxn modelId="{254B325F-8F28-45A3-95FD-1CE2C6EDB9DA}" type="presParOf" srcId="{D7A60E3F-9151-44AD-96F5-BC81195D1BEB}" destId="{B60616FA-D911-4392-B5AC-D2411CE82AB0}" srcOrd="0" destOrd="0" presId="urn:microsoft.com/office/officeart/2018/2/layout/IconVerticalSolidList"/>
    <dgm:cxn modelId="{799AE9F0-8E99-4A7B-A70D-BEF1B87A6F3C}" type="presParOf" srcId="{D7A60E3F-9151-44AD-96F5-BC81195D1BEB}" destId="{7A628118-7E92-4EEB-BFCF-1FF35D3185E5}" srcOrd="1" destOrd="0" presId="urn:microsoft.com/office/officeart/2018/2/layout/IconVerticalSolidList"/>
    <dgm:cxn modelId="{AE0EC272-7634-4783-8883-65B4053B24D2}" type="presParOf" srcId="{D7A60E3F-9151-44AD-96F5-BC81195D1BEB}" destId="{B76D2660-98AD-446E-B66C-8C4DA029E747}" srcOrd="2" destOrd="0" presId="urn:microsoft.com/office/officeart/2018/2/layout/IconVerticalSolidList"/>
    <dgm:cxn modelId="{C751F744-BD75-4D69-888C-DD5876A4F8B8}" type="presParOf" srcId="{D7A60E3F-9151-44AD-96F5-BC81195D1BEB}" destId="{693C6289-7CA2-447E-A09C-31664819B52C}" srcOrd="3" destOrd="0" presId="urn:microsoft.com/office/officeart/2018/2/layout/IconVerticalSolidList"/>
    <dgm:cxn modelId="{2B7695F6-7267-4529-A318-E2F20860C867}" type="presParOf" srcId="{75AECD5F-2C44-4AE5-BBEE-43EE45AD663A}" destId="{1DAC63E7-7872-4D94-B14D-00027C4F47E1}" srcOrd="1" destOrd="0" presId="urn:microsoft.com/office/officeart/2018/2/layout/IconVerticalSolidList"/>
    <dgm:cxn modelId="{995D5428-A90E-410D-90A9-63078F569E4A}" type="presParOf" srcId="{75AECD5F-2C44-4AE5-BBEE-43EE45AD663A}" destId="{A83BDF96-0D73-4F7F-92F1-3E86007854F7}" srcOrd="2" destOrd="0" presId="urn:microsoft.com/office/officeart/2018/2/layout/IconVerticalSolidList"/>
    <dgm:cxn modelId="{9C70E1A6-AE44-4637-8996-5748598EA836}" type="presParOf" srcId="{A83BDF96-0D73-4F7F-92F1-3E86007854F7}" destId="{1C975A5F-A938-4075-B1A5-44A69F56D54E}" srcOrd="0" destOrd="0" presId="urn:microsoft.com/office/officeart/2018/2/layout/IconVerticalSolidList"/>
    <dgm:cxn modelId="{168B5A54-E44B-4A13-893A-444E7DB59F82}" type="presParOf" srcId="{A83BDF96-0D73-4F7F-92F1-3E86007854F7}" destId="{E628DBFC-1C04-4E78-9391-10DCE7FBF62D}" srcOrd="1" destOrd="0" presId="urn:microsoft.com/office/officeart/2018/2/layout/IconVerticalSolidList"/>
    <dgm:cxn modelId="{007FFB66-0AD0-4C38-921A-DBFEF1AC4A73}" type="presParOf" srcId="{A83BDF96-0D73-4F7F-92F1-3E86007854F7}" destId="{0EEF4C08-A6CE-4D86-B5C4-1E2FD0AC55D1}" srcOrd="2" destOrd="0" presId="urn:microsoft.com/office/officeart/2018/2/layout/IconVerticalSolidList"/>
    <dgm:cxn modelId="{8DEF31E0-6999-4ECA-9D44-13F9D6DA675C}" type="presParOf" srcId="{A83BDF96-0D73-4F7F-92F1-3E86007854F7}" destId="{C6E52E28-5A3D-4E3D-943D-CDEA14533331}" srcOrd="3" destOrd="0" presId="urn:microsoft.com/office/officeart/2018/2/layout/IconVerticalSolidList"/>
    <dgm:cxn modelId="{101C82AE-E858-4BDC-87DE-2F70DE09C75E}" type="presParOf" srcId="{75AECD5F-2C44-4AE5-BBEE-43EE45AD663A}" destId="{6CBA1B7C-1384-4D46-8E99-1D968D2068D6}" srcOrd="3" destOrd="0" presId="urn:microsoft.com/office/officeart/2018/2/layout/IconVerticalSolidList"/>
    <dgm:cxn modelId="{3BFBB34B-96F9-4BC1-9351-884BAE3157B4}" type="presParOf" srcId="{75AECD5F-2C44-4AE5-BBEE-43EE45AD663A}" destId="{D913E01D-0277-4074-B287-1B94D283A262}" srcOrd="4" destOrd="0" presId="urn:microsoft.com/office/officeart/2018/2/layout/IconVerticalSolidList"/>
    <dgm:cxn modelId="{3FF26F01-EF6D-491E-BF5C-E91EE8C9E28C}" type="presParOf" srcId="{D913E01D-0277-4074-B287-1B94D283A262}" destId="{4A1AEF4C-034A-473C-A06B-DD2C9A98BA00}" srcOrd="0" destOrd="0" presId="urn:microsoft.com/office/officeart/2018/2/layout/IconVerticalSolidList"/>
    <dgm:cxn modelId="{7A1E6850-AD74-4FBF-A286-296F7B5B21DD}" type="presParOf" srcId="{D913E01D-0277-4074-B287-1B94D283A262}" destId="{5C2432CA-999A-4A0A-8ED4-E4B98B7C33B1}" srcOrd="1" destOrd="0" presId="urn:microsoft.com/office/officeart/2018/2/layout/IconVerticalSolidList"/>
    <dgm:cxn modelId="{9462DFF2-969C-4C9B-A279-66642A100CB4}" type="presParOf" srcId="{D913E01D-0277-4074-B287-1B94D283A262}" destId="{5E8ADD47-E61E-46DE-8ADC-1C61E459DFCD}" srcOrd="2" destOrd="0" presId="urn:microsoft.com/office/officeart/2018/2/layout/IconVerticalSolidList"/>
    <dgm:cxn modelId="{5020FE28-3CAE-4ED0-97B7-742B1DD49851}" type="presParOf" srcId="{D913E01D-0277-4074-B287-1B94D283A262}" destId="{7A5495E3-AF05-44B8-859A-5960E31A4A67}" srcOrd="3" destOrd="0" presId="urn:microsoft.com/office/officeart/2018/2/layout/IconVerticalSolidList"/>
    <dgm:cxn modelId="{13B27E83-0140-473D-9EE5-D98C94EC1F7C}" type="presParOf" srcId="{75AECD5F-2C44-4AE5-BBEE-43EE45AD663A}" destId="{EE2AAA8C-B386-42AF-B037-4A750FA53A3B}" srcOrd="5" destOrd="0" presId="urn:microsoft.com/office/officeart/2018/2/layout/IconVerticalSolidList"/>
    <dgm:cxn modelId="{ED329919-3978-4621-943A-B407A6AFCC81}" type="presParOf" srcId="{75AECD5F-2C44-4AE5-BBEE-43EE45AD663A}" destId="{661867E2-2C99-48C6-9B25-0EB6A8246D58}" srcOrd="6" destOrd="0" presId="urn:microsoft.com/office/officeart/2018/2/layout/IconVerticalSolidList"/>
    <dgm:cxn modelId="{4C595C2A-54AD-4EAF-8DD2-ABD669F4291E}" type="presParOf" srcId="{661867E2-2C99-48C6-9B25-0EB6A8246D58}" destId="{39853109-DBEB-4EDE-841D-AB06DE9ADC88}" srcOrd="0" destOrd="0" presId="urn:microsoft.com/office/officeart/2018/2/layout/IconVerticalSolidList"/>
    <dgm:cxn modelId="{B03F4AAC-7CC9-464E-9ABF-EE54C01DB9CE}" type="presParOf" srcId="{661867E2-2C99-48C6-9B25-0EB6A8246D58}" destId="{8B2C7264-4441-45AA-BA6A-BB41D30259F8}" srcOrd="1" destOrd="0" presId="urn:microsoft.com/office/officeart/2018/2/layout/IconVerticalSolidList"/>
    <dgm:cxn modelId="{2E549282-988A-4A8C-9884-B4278EB23B5C}" type="presParOf" srcId="{661867E2-2C99-48C6-9B25-0EB6A8246D58}" destId="{91B95B76-76F8-4DA7-BB09-17F9FA929F5F}" srcOrd="2" destOrd="0" presId="urn:microsoft.com/office/officeart/2018/2/layout/IconVerticalSolidList"/>
    <dgm:cxn modelId="{5464F7B6-A596-4E4A-A35B-062B3B3FE40B}" type="presParOf" srcId="{661867E2-2C99-48C6-9B25-0EB6A8246D58}" destId="{EB33ED3E-EC31-4940-9481-E4A1E923A5E6}" srcOrd="3" destOrd="0" presId="urn:microsoft.com/office/officeart/2018/2/layout/IconVerticalSolidList"/>
    <dgm:cxn modelId="{238E9765-824B-4579-93F3-9CC785B77967}" type="presParOf" srcId="{75AECD5F-2C44-4AE5-BBEE-43EE45AD663A}" destId="{9A2AEA51-3FFA-4198-A92C-DD2AE4FC2C7B}" srcOrd="7" destOrd="0" presId="urn:microsoft.com/office/officeart/2018/2/layout/IconVerticalSolidList"/>
    <dgm:cxn modelId="{B58170F6-FCD9-485B-B858-709260AC96DF}" type="presParOf" srcId="{75AECD5F-2C44-4AE5-BBEE-43EE45AD663A}" destId="{EF611A14-7D98-45E9-B311-D6E50E5D2DEB}" srcOrd="8" destOrd="0" presId="urn:microsoft.com/office/officeart/2018/2/layout/IconVerticalSolidList"/>
    <dgm:cxn modelId="{5A7ED5FF-CDDB-49D2-98EA-44F5783D18CE}" type="presParOf" srcId="{EF611A14-7D98-45E9-B311-D6E50E5D2DEB}" destId="{E43FE6C9-8C65-48CF-9395-88E11620F410}" srcOrd="0" destOrd="0" presId="urn:microsoft.com/office/officeart/2018/2/layout/IconVerticalSolidList"/>
    <dgm:cxn modelId="{E3E7BC01-BE31-48E1-91E3-31805E81D4FC}" type="presParOf" srcId="{EF611A14-7D98-45E9-B311-D6E50E5D2DEB}" destId="{99FA1582-D611-4FB9-BA5F-A9F756A88542}" srcOrd="1" destOrd="0" presId="urn:microsoft.com/office/officeart/2018/2/layout/IconVerticalSolidList"/>
    <dgm:cxn modelId="{684B48D5-A9F9-4CEA-9B96-9B8645BE32F8}" type="presParOf" srcId="{EF611A14-7D98-45E9-B311-D6E50E5D2DEB}" destId="{4B55F798-7EC9-4591-B5E3-16D5A10EFF45}" srcOrd="2" destOrd="0" presId="urn:microsoft.com/office/officeart/2018/2/layout/IconVerticalSolidList"/>
    <dgm:cxn modelId="{670FC10B-37FE-4C0B-A83E-BB6AEF534CA9}" type="presParOf" srcId="{EF611A14-7D98-45E9-B311-D6E50E5D2DEB}" destId="{80AF1446-91FC-4616-AAEF-6FA46B09EE2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0616FA-D911-4392-B5AC-D2411CE82AB0}">
      <dsp:nvSpPr>
        <dsp:cNvPr id="0" name=""/>
        <dsp:cNvSpPr/>
      </dsp:nvSpPr>
      <dsp:spPr>
        <a:xfrm>
          <a:off x="0" y="3944"/>
          <a:ext cx="10960510" cy="8402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628118-7E92-4EEB-BFCF-1FF35D3185E5}">
      <dsp:nvSpPr>
        <dsp:cNvPr id="0" name=""/>
        <dsp:cNvSpPr/>
      </dsp:nvSpPr>
      <dsp:spPr>
        <a:xfrm>
          <a:off x="254163" y="192991"/>
          <a:ext cx="462115" cy="4621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3C6289-7CA2-447E-A09C-31664819B52C}">
      <dsp:nvSpPr>
        <dsp:cNvPr id="0" name=""/>
        <dsp:cNvSpPr/>
      </dsp:nvSpPr>
      <dsp:spPr>
        <a:xfrm>
          <a:off x="970441" y="3944"/>
          <a:ext cx="9990068" cy="840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22" tIns="88922" rIns="88922" bIns="88922" numCol="1" spcCol="1270" anchor="ctr" anchorCtr="0">
          <a:noAutofit/>
        </a:bodyPr>
        <a:lstStyle/>
        <a:p>
          <a:pPr marL="0" lvl="0" indent="0" algn="l" defTabSz="844550">
            <a:lnSpc>
              <a:spcPct val="100000"/>
            </a:lnSpc>
            <a:spcBef>
              <a:spcPct val="0"/>
            </a:spcBef>
            <a:spcAft>
              <a:spcPct val="35000"/>
            </a:spcAft>
            <a:buNone/>
          </a:pPr>
          <a:r>
            <a:rPr lang="en-US" sz="1900" kern="1200"/>
            <a:t>High accuracy in image-based classification tasks.</a:t>
          </a:r>
        </a:p>
      </dsp:txBody>
      <dsp:txXfrm>
        <a:off x="970441" y="3944"/>
        <a:ext cx="9990068" cy="840209"/>
      </dsp:txXfrm>
    </dsp:sp>
    <dsp:sp modelId="{1C975A5F-A938-4075-B1A5-44A69F56D54E}">
      <dsp:nvSpPr>
        <dsp:cNvPr id="0" name=""/>
        <dsp:cNvSpPr/>
      </dsp:nvSpPr>
      <dsp:spPr>
        <a:xfrm>
          <a:off x="0" y="1054206"/>
          <a:ext cx="10960510" cy="8402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28DBFC-1C04-4E78-9391-10DCE7FBF62D}">
      <dsp:nvSpPr>
        <dsp:cNvPr id="0" name=""/>
        <dsp:cNvSpPr/>
      </dsp:nvSpPr>
      <dsp:spPr>
        <a:xfrm>
          <a:off x="254163" y="1243253"/>
          <a:ext cx="462115" cy="4621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E52E28-5A3D-4E3D-943D-CDEA14533331}">
      <dsp:nvSpPr>
        <dsp:cNvPr id="0" name=""/>
        <dsp:cNvSpPr/>
      </dsp:nvSpPr>
      <dsp:spPr>
        <a:xfrm>
          <a:off x="970441" y="1054206"/>
          <a:ext cx="9990068" cy="840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22" tIns="88922" rIns="88922" bIns="88922" numCol="1" spcCol="1270" anchor="ctr" anchorCtr="0">
          <a:noAutofit/>
        </a:bodyPr>
        <a:lstStyle/>
        <a:p>
          <a:pPr marL="0" lvl="0" indent="0" algn="l" defTabSz="844550">
            <a:lnSpc>
              <a:spcPct val="100000"/>
            </a:lnSpc>
            <a:spcBef>
              <a:spcPct val="0"/>
            </a:spcBef>
            <a:spcAft>
              <a:spcPct val="35000"/>
            </a:spcAft>
            <a:buNone/>
          </a:pPr>
          <a:r>
            <a:rPr lang="en-US" sz="1900" kern="1200"/>
            <a:t>Automated feature extraction, reducing manual effort.</a:t>
          </a:r>
        </a:p>
      </dsp:txBody>
      <dsp:txXfrm>
        <a:off x="970441" y="1054206"/>
        <a:ext cx="9990068" cy="840209"/>
      </dsp:txXfrm>
    </dsp:sp>
    <dsp:sp modelId="{4A1AEF4C-034A-473C-A06B-DD2C9A98BA00}">
      <dsp:nvSpPr>
        <dsp:cNvPr id="0" name=""/>
        <dsp:cNvSpPr/>
      </dsp:nvSpPr>
      <dsp:spPr>
        <a:xfrm>
          <a:off x="0" y="2104468"/>
          <a:ext cx="10960510" cy="8402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2432CA-999A-4A0A-8ED4-E4B98B7C33B1}">
      <dsp:nvSpPr>
        <dsp:cNvPr id="0" name=""/>
        <dsp:cNvSpPr/>
      </dsp:nvSpPr>
      <dsp:spPr>
        <a:xfrm>
          <a:off x="254163" y="2293515"/>
          <a:ext cx="462115" cy="4621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5495E3-AF05-44B8-859A-5960E31A4A67}">
      <dsp:nvSpPr>
        <dsp:cNvPr id="0" name=""/>
        <dsp:cNvSpPr/>
      </dsp:nvSpPr>
      <dsp:spPr>
        <a:xfrm>
          <a:off x="970441" y="2104468"/>
          <a:ext cx="9990068" cy="840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22" tIns="88922" rIns="88922" bIns="88922" numCol="1" spcCol="1270" anchor="ctr" anchorCtr="0">
          <a:noAutofit/>
        </a:bodyPr>
        <a:lstStyle/>
        <a:p>
          <a:pPr marL="0" lvl="0" indent="0" algn="l" defTabSz="844550">
            <a:lnSpc>
              <a:spcPct val="100000"/>
            </a:lnSpc>
            <a:spcBef>
              <a:spcPct val="0"/>
            </a:spcBef>
            <a:spcAft>
              <a:spcPct val="35000"/>
            </a:spcAft>
            <a:buNone/>
          </a:pPr>
          <a:r>
            <a:rPr lang="en-US" sz="1900" kern="1200"/>
            <a:t>Scalable for large datasets collected from drones and IoT cameras/Sensors</a:t>
          </a:r>
        </a:p>
      </dsp:txBody>
      <dsp:txXfrm>
        <a:off x="970441" y="2104468"/>
        <a:ext cx="9990068" cy="840209"/>
      </dsp:txXfrm>
    </dsp:sp>
    <dsp:sp modelId="{39853109-DBEB-4EDE-841D-AB06DE9ADC88}">
      <dsp:nvSpPr>
        <dsp:cNvPr id="0" name=""/>
        <dsp:cNvSpPr/>
      </dsp:nvSpPr>
      <dsp:spPr>
        <a:xfrm>
          <a:off x="0" y="3154730"/>
          <a:ext cx="10960510" cy="8402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2C7264-4441-45AA-BA6A-BB41D30259F8}">
      <dsp:nvSpPr>
        <dsp:cNvPr id="0" name=""/>
        <dsp:cNvSpPr/>
      </dsp:nvSpPr>
      <dsp:spPr>
        <a:xfrm>
          <a:off x="254163" y="3343777"/>
          <a:ext cx="462115" cy="4621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33ED3E-EC31-4940-9481-E4A1E923A5E6}">
      <dsp:nvSpPr>
        <dsp:cNvPr id="0" name=""/>
        <dsp:cNvSpPr/>
      </dsp:nvSpPr>
      <dsp:spPr>
        <a:xfrm>
          <a:off x="970441" y="3154730"/>
          <a:ext cx="9990068" cy="840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22" tIns="88922" rIns="88922" bIns="88922" numCol="1" spcCol="1270" anchor="ctr" anchorCtr="0">
          <a:noAutofit/>
        </a:bodyPr>
        <a:lstStyle/>
        <a:p>
          <a:pPr marL="0" lvl="0" indent="0" algn="l" defTabSz="844550">
            <a:lnSpc>
              <a:spcPct val="100000"/>
            </a:lnSpc>
            <a:spcBef>
              <a:spcPct val="0"/>
            </a:spcBef>
            <a:spcAft>
              <a:spcPct val="35000"/>
            </a:spcAft>
            <a:buNone/>
          </a:pPr>
          <a:r>
            <a:rPr lang="en-US" sz="1900" kern="1200"/>
            <a:t>Handles sequential &amp; time-series data efficiently.</a:t>
          </a:r>
        </a:p>
      </dsp:txBody>
      <dsp:txXfrm>
        <a:off x="970441" y="3154730"/>
        <a:ext cx="9990068" cy="840209"/>
      </dsp:txXfrm>
    </dsp:sp>
    <dsp:sp modelId="{E43FE6C9-8C65-48CF-9395-88E11620F410}">
      <dsp:nvSpPr>
        <dsp:cNvPr id="0" name=""/>
        <dsp:cNvSpPr/>
      </dsp:nvSpPr>
      <dsp:spPr>
        <a:xfrm>
          <a:off x="0" y="4204991"/>
          <a:ext cx="10960510" cy="84020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9FA1582-D611-4FB9-BA5F-A9F756A88542}">
      <dsp:nvSpPr>
        <dsp:cNvPr id="0" name=""/>
        <dsp:cNvSpPr/>
      </dsp:nvSpPr>
      <dsp:spPr>
        <a:xfrm>
          <a:off x="254163" y="4394039"/>
          <a:ext cx="462115" cy="46211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AF1446-91FC-4616-AAEF-6FA46B09EE2E}">
      <dsp:nvSpPr>
        <dsp:cNvPr id="0" name=""/>
        <dsp:cNvSpPr/>
      </dsp:nvSpPr>
      <dsp:spPr>
        <a:xfrm>
          <a:off x="970441" y="4204991"/>
          <a:ext cx="9990068" cy="8402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922" tIns="88922" rIns="88922" bIns="88922" numCol="1" spcCol="1270" anchor="ctr" anchorCtr="0">
          <a:noAutofit/>
        </a:bodyPr>
        <a:lstStyle/>
        <a:p>
          <a:pPr marL="0" lvl="0" indent="0" algn="l" defTabSz="844550">
            <a:lnSpc>
              <a:spcPct val="100000"/>
            </a:lnSpc>
            <a:spcBef>
              <a:spcPct val="0"/>
            </a:spcBef>
            <a:spcAft>
              <a:spcPct val="35000"/>
            </a:spcAft>
            <a:buNone/>
          </a:pPr>
          <a:r>
            <a:rPr lang="en-US" sz="1900" kern="1200"/>
            <a:t>Learns long-term dependencies, making it useful for weather &amp; crop predictions</a:t>
          </a:r>
        </a:p>
      </dsp:txBody>
      <dsp:txXfrm>
        <a:off x="970441" y="4204991"/>
        <a:ext cx="9990068" cy="84020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58ED9-D93E-93DB-2F41-66823205269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17FD18-F81A-27EA-DD44-D8A70FA428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814EAFB-ACDA-8068-4B31-226829A7A98D}"/>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5" name="Footer Placeholder 4">
            <a:extLst>
              <a:ext uri="{FF2B5EF4-FFF2-40B4-BE49-F238E27FC236}">
                <a16:creationId xmlns:a16="http://schemas.microsoft.com/office/drawing/2014/main" id="{A3EBAC3D-8DCB-0CC7-0186-76B416390F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887673-C350-B2AD-AFDA-500FD6E10CAE}"/>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3625426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664B2-E826-74A5-1F1B-55EA630D2D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83D2F7-17CE-21A7-C48C-90D0AD37A3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EE21C6-E7AF-4314-C1C6-556573B5ED4F}"/>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5" name="Footer Placeholder 4">
            <a:extLst>
              <a:ext uri="{FF2B5EF4-FFF2-40B4-BE49-F238E27FC236}">
                <a16:creationId xmlns:a16="http://schemas.microsoft.com/office/drawing/2014/main" id="{72EF37D7-204A-5D1B-4BC9-294DE6BD68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1855D62-896A-9A97-B990-ACA62CF2142A}"/>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1710933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F3562-79BF-A6CD-897B-3E50AF1210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AE7CD7-CE09-3E46-917F-A361561AC2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45661A-B483-7B50-6C77-23491D2FC2C2}"/>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5" name="Footer Placeholder 4">
            <a:extLst>
              <a:ext uri="{FF2B5EF4-FFF2-40B4-BE49-F238E27FC236}">
                <a16:creationId xmlns:a16="http://schemas.microsoft.com/office/drawing/2014/main" id="{2E23179A-8044-2AFD-E5F6-978DB8FD08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3779C1-7B07-B23F-A08E-47AA57ECA101}"/>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2054330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2BE8B-ED0D-A8F3-9B4A-46D99F84A3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9E75AB-3EAD-BA04-3A59-8CCFF4F391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C0A80CD-424D-F949-EA6D-0A6C7CBF4D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5BD15A-E143-2E3B-F4AD-48F4274B940A}"/>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6" name="Footer Placeholder 5">
            <a:extLst>
              <a:ext uri="{FF2B5EF4-FFF2-40B4-BE49-F238E27FC236}">
                <a16:creationId xmlns:a16="http://schemas.microsoft.com/office/drawing/2014/main" id="{17745380-E5CF-2049-7A92-D419D08EF7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6C736B-54A7-968A-F8E6-CB4D10EAA0D4}"/>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2664148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0CCDE-CD3C-83BD-E5A5-244305DA59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87D4A3-22D3-0299-866D-2C1159726F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3D6484-16DB-52F3-EB74-78D6DEB086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0F8880F-83AB-F83B-1AB2-8B4AC6D415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F73070-FBD6-6517-DC2F-16EEB62522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2EE69D3-1A35-8BC8-0249-D0F7C87EA19D}"/>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8" name="Footer Placeholder 7">
            <a:extLst>
              <a:ext uri="{FF2B5EF4-FFF2-40B4-BE49-F238E27FC236}">
                <a16:creationId xmlns:a16="http://schemas.microsoft.com/office/drawing/2014/main" id="{3D074CB7-1A37-B175-6911-BBA3C93D804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2BDC313-6B56-633F-0FF2-1586A3CB446C}"/>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3491278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CB7F1-7E05-4FA5-7401-1960DE578D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ABE205-097A-6F5F-9C38-62863439512A}"/>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4" name="Footer Placeholder 3">
            <a:extLst>
              <a:ext uri="{FF2B5EF4-FFF2-40B4-BE49-F238E27FC236}">
                <a16:creationId xmlns:a16="http://schemas.microsoft.com/office/drawing/2014/main" id="{D8C63CB3-C50B-38D8-295C-5F419755EB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ACFBB5A-2B63-E1F7-9B65-6889FF42AF1A}"/>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1785886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B3AA9E-9845-92A7-41E2-4566E2339DC3}"/>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3" name="Footer Placeholder 2">
            <a:extLst>
              <a:ext uri="{FF2B5EF4-FFF2-40B4-BE49-F238E27FC236}">
                <a16:creationId xmlns:a16="http://schemas.microsoft.com/office/drawing/2014/main" id="{C0E3AD3D-F27E-11C0-E7C5-293522813E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0586214-DBB1-617A-44A3-A28F3EA275C3}"/>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1121813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8DF9-CB03-24C9-5416-F1FC19240A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F0E251F-B8BE-7DAF-75A2-AAA0796E33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594549A-0839-A4D7-1876-D990066224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FCB234-FAF2-1157-BE84-3705F1914379}"/>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6" name="Footer Placeholder 5">
            <a:extLst>
              <a:ext uri="{FF2B5EF4-FFF2-40B4-BE49-F238E27FC236}">
                <a16:creationId xmlns:a16="http://schemas.microsoft.com/office/drawing/2014/main" id="{FFA57C04-5164-486E-05F9-AD0316B212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1A0E12-9994-F910-2004-6E257F167DFF}"/>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4147003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0D424-A227-B5F6-6749-E6CCCEED6B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1F4C48A-7E27-B520-EBA3-C6F1CFD73C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C9B9E91-3EF9-447F-F8B4-6FE20571A4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D31F4A-E79B-0896-9B7F-C41671BD7050}"/>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6" name="Footer Placeholder 5">
            <a:extLst>
              <a:ext uri="{FF2B5EF4-FFF2-40B4-BE49-F238E27FC236}">
                <a16:creationId xmlns:a16="http://schemas.microsoft.com/office/drawing/2014/main" id="{D8186849-AC0E-1721-CE20-4C31E7527D0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174571-7A9D-B0D7-8CD2-3C0202CA8E99}"/>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803899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1C399-8F7F-D553-28EF-82659958DF6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569ACE-0B84-8117-A16F-84DF63FCEB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8AF0F1-DE6B-530D-6A3B-CDECFB1B4CA2}"/>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5" name="Footer Placeholder 4">
            <a:extLst>
              <a:ext uri="{FF2B5EF4-FFF2-40B4-BE49-F238E27FC236}">
                <a16:creationId xmlns:a16="http://schemas.microsoft.com/office/drawing/2014/main" id="{A89C433B-BD90-5F4D-175B-83FA40EB06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75EFD1-F04C-0068-20A0-2C1602E7A326}"/>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3133604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678EAE-44D9-CA18-FCD4-2E0416FE01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F2DD66C-C62F-1EDA-F8EE-A1D658812C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1983E6C-7C2E-310E-C84E-C5D7C14ACABF}"/>
              </a:ext>
            </a:extLst>
          </p:cNvPr>
          <p:cNvSpPr>
            <a:spLocks noGrp="1"/>
          </p:cNvSpPr>
          <p:nvPr>
            <p:ph type="dt" sz="half" idx="10"/>
          </p:nvPr>
        </p:nvSpPr>
        <p:spPr/>
        <p:txBody>
          <a:bodyPr/>
          <a:lstStyle/>
          <a:p>
            <a:fld id="{58A5390E-F934-494B-B269-809A65331AD7}" type="datetimeFigureOut">
              <a:rPr lang="en-IN" smtClean="0"/>
              <a:t>29-05-2025</a:t>
            </a:fld>
            <a:endParaRPr lang="en-IN"/>
          </a:p>
        </p:txBody>
      </p:sp>
      <p:sp>
        <p:nvSpPr>
          <p:cNvPr id="5" name="Footer Placeholder 4">
            <a:extLst>
              <a:ext uri="{FF2B5EF4-FFF2-40B4-BE49-F238E27FC236}">
                <a16:creationId xmlns:a16="http://schemas.microsoft.com/office/drawing/2014/main" id="{49C669A2-1E0A-2A5D-938B-4EB321C191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5DDAF7-705E-E3F1-9D29-ACA2B4A9745C}"/>
              </a:ext>
            </a:extLst>
          </p:cNvPr>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2111127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8A5390E-F934-494B-B269-809A65331AD7}"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10290996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A5390E-F934-494B-B269-809A65331AD7}"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18022803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8A5390E-F934-494B-B269-809A65331AD7}"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4068606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A5390E-F934-494B-B269-809A65331AD7}"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2376375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A5390E-F934-494B-B269-809A65331AD7}" type="datetimeFigureOut">
              <a:rPr lang="en-IN" smtClean="0"/>
              <a:t>29-05-2025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17449475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A5390E-F934-494B-B269-809A65331AD7}" type="datetimeFigureOut">
              <a:rPr lang="en-IN" smtClean="0"/>
              <a:t>29-05-2025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2591461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58A5390E-F934-494B-B269-809A65331AD7}" type="datetimeFigureOut">
              <a:rPr lang="en-IN" smtClean="0"/>
              <a:t>29-05-2025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35670890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8A5390E-F934-494B-B269-809A65331AD7}"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98333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8A5390E-F934-494B-B269-809A65331AD7}"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1925325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8A5390E-F934-494B-B269-809A65331AD7}"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35905492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8A5390E-F934-494B-B269-809A65331AD7}"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18465398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8A5390E-F934-494B-B269-809A65331AD7}"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A76021-0386-4916-ABD5-056E159669B5}"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544160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8A5390E-F934-494B-B269-809A65331AD7}" type="datetimeFigureOut">
              <a:rPr lang="en-IN" smtClean="0"/>
              <a:t>29-05-2025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6638079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8A5390E-F934-494B-B269-809A65331AD7}" type="datetimeFigureOut">
              <a:rPr lang="en-IN" smtClean="0"/>
              <a:t>29-05-2025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28202242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58A5390E-F934-494B-B269-809A65331AD7}" type="datetimeFigureOut">
              <a:rPr lang="en-IN" smtClean="0"/>
              <a:t>29-05-2025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11297624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A5390E-F934-494B-B269-809A65331AD7}"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29227844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A5390E-F934-494B-B269-809A65331AD7}" type="datetimeFigureOut">
              <a:rPr lang="en-IN" smtClean="0"/>
              <a:t>29-05-2025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4A76021-0386-4916-ABD5-056E159669B5}" type="slidenum">
              <a:rPr lang="en-IN" smtClean="0"/>
              <a:t>‹#›</a:t>
            </a:fld>
            <a:endParaRPr lang="en-IN"/>
          </a:p>
        </p:txBody>
      </p:sp>
    </p:spTree>
    <p:extLst>
      <p:ext uri="{BB962C8B-B14F-4D97-AF65-F5344CB8AC3E}">
        <p14:creationId xmlns:p14="http://schemas.microsoft.com/office/powerpoint/2010/main" val="25319735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379DBE-7386-AFB1-CAFC-15F93B5BED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A4AC2DA-C655-FEBC-91B4-6A7E85A5D5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4FF3C9-3F0D-C878-7D15-5939D3763D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A5390E-F934-494B-B269-809A65331AD7}" type="datetimeFigureOut">
              <a:rPr lang="en-IN" smtClean="0"/>
              <a:t>29-05-2025</a:t>
            </a:fld>
            <a:endParaRPr lang="en-IN"/>
          </a:p>
        </p:txBody>
      </p:sp>
      <p:sp>
        <p:nvSpPr>
          <p:cNvPr id="5" name="Footer Placeholder 4">
            <a:extLst>
              <a:ext uri="{FF2B5EF4-FFF2-40B4-BE49-F238E27FC236}">
                <a16:creationId xmlns:a16="http://schemas.microsoft.com/office/drawing/2014/main" id="{6FED3917-3157-AE54-4E8A-237437D611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4C0E7A3-0AC3-46B5-D911-87F06CEBE3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A76021-0386-4916-ABD5-056E159669B5}" type="slidenum">
              <a:rPr lang="en-IN" smtClean="0"/>
              <a:t>‹#›</a:t>
            </a:fld>
            <a:endParaRPr lang="en-IN"/>
          </a:p>
        </p:txBody>
      </p:sp>
    </p:spTree>
    <p:extLst>
      <p:ext uri="{BB962C8B-B14F-4D97-AF65-F5344CB8AC3E}">
        <p14:creationId xmlns:p14="http://schemas.microsoft.com/office/powerpoint/2010/main" val="29720859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58A5390E-F934-494B-B269-809A65331AD7}" type="datetimeFigureOut">
              <a:rPr lang="en-IN" smtClean="0"/>
              <a:t>29-05-2025</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A4A76021-0386-4916-ABD5-056E159669B5}" type="slidenum">
              <a:rPr lang="en-IN" smtClean="0"/>
              <a:t>‹#›</a:t>
            </a:fld>
            <a:endParaRPr lang="en-IN"/>
          </a:p>
        </p:txBody>
      </p:sp>
    </p:spTree>
    <p:extLst>
      <p:ext uri="{BB962C8B-B14F-4D97-AF65-F5344CB8AC3E}">
        <p14:creationId xmlns:p14="http://schemas.microsoft.com/office/powerpoint/2010/main" val="2391127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68EC965-623E-8BF3-985A-953E5C1316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222078"/>
            <a:ext cx="12207199" cy="639001"/>
            <a:chOff x="-5025" y="6222078"/>
            <a:chExt cx="12207199" cy="639001"/>
          </a:xfrm>
        </p:grpSpPr>
        <p:sp>
          <p:nvSpPr>
            <p:cNvPr id="9" name="Rectangle 8">
              <a:extLst>
                <a:ext uri="{FF2B5EF4-FFF2-40B4-BE49-F238E27FC236}">
                  <a16:creationId xmlns:a16="http://schemas.microsoft.com/office/drawing/2014/main" id="{3D95F932-C833-697F-9C8B-846A4C713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5779075" y="437979"/>
              <a:ext cx="639000"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B87D2FB-6AB1-6569-F43A-2CB44F77D3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08412" y="3577490"/>
              <a:ext cx="639000" cy="5928176"/>
            </a:xfrm>
            <a:prstGeom prst="rect">
              <a:avLst/>
            </a:prstGeom>
            <a:gradFill>
              <a:gsLst>
                <a:gs pos="3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CCC28670-A68B-436F-A096-3298EDCFDB9B}"/>
              </a:ext>
            </a:extLst>
          </p:cNvPr>
          <p:cNvSpPr txBox="1"/>
          <p:nvPr/>
        </p:nvSpPr>
        <p:spPr>
          <a:xfrm>
            <a:off x="587829" y="905069"/>
            <a:ext cx="6232849" cy="989045"/>
          </a:xfrm>
          <a:prstGeom prst="rect">
            <a:avLst/>
          </a:prstGeom>
          <a:noFill/>
        </p:spPr>
        <p:txBody>
          <a:bodyPr wrap="square" rtlCol="0">
            <a:spAutoFit/>
          </a:bodyPr>
          <a:lstStyle/>
          <a:p>
            <a:endParaRPr lang="en-IN" dirty="0"/>
          </a:p>
        </p:txBody>
      </p:sp>
      <p:pic>
        <p:nvPicPr>
          <p:cNvPr id="3" name="Picture 2">
            <a:extLst>
              <a:ext uri="{FF2B5EF4-FFF2-40B4-BE49-F238E27FC236}">
                <a16:creationId xmlns:a16="http://schemas.microsoft.com/office/drawing/2014/main" id="{45E13646-C5A4-4B26-95F9-FE9200CE5D6F}"/>
              </a:ext>
            </a:extLst>
          </p:cNvPr>
          <p:cNvPicPr>
            <a:picLocks noChangeAspect="1"/>
          </p:cNvPicPr>
          <p:nvPr/>
        </p:nvPicPr>
        <p:blipFill>
          <a:blip r:embed="rId2"/>
          <a:stretch>
            <a:fillRect/>
          </a:stretch>
        </p:blipFill>
        <p:spPr>
          <a:xfrm>
            <a:off x="-5025" y="-44000"/>
            <a:ext cx="12192000" cy="6266077"/>
          </a:xfrm>
          <a:prstGeom prst="rect">
            <a:avLst/>
          </a:prstGeom>
        </p:spPr>
      </p:pic>
      <p:sp>
        <p:nvSpPr>
          <p:cNvPr id="5" name="TextBox 4">
            <a:extLst>
              <a:ext uri="{FF2B5EF4-FFF2-40B4-BE49-F238E27FC236}">
                <a16:creationId xmlns:a16="http://schemas.microsoft.com/office/drawing/2014/main" id="{E628903E-1AA2-40A1-9921-713A0976B927}"/>
              </a:ext>
            </a:extLst>
          </p:cNvPr>
          <p:cNvSpPr txBox="1"/>
          <p:nvPr/>
        </p:nvSpPr>
        <p:spPr>
          <a:xfrm>
            <a:off x="727788" y="746449"/>
            <a:ext cx="10776857" cy="1307537"/>
          </a:xfrm>
          <a:prstGeom prst="rect">
            <a:avLst/>
          </a:prstGeom>
          <a:noFill/>
        </p:spPr>
        <p:txBody>
          <a:bodyPr wrap="square" rtlCol="0">
            <a:spAutoFit/>
          </a:bodyPr>
          <a:lstStyle/>
          <a:p>
            <a:pPr algn="just">
              <a:lnSpc>
                <a:spcPct val="150000"/>
              </a:lnSpc>
            </a:pP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FUTURE  AGRI:</a:t>
            </a:r>
          </a:p>
          <a:p>
            <a:pPr algn="just">
              <a:lnSpc>
                <a:spcPct val="150000"/>
              </a:lnSpc>
            </a:pPr>
            <a:r>
              <a:rPr lang="en-US" sz="2800" b="1" dirty="0">
                <a:latin typeface="Times New Roman" panose="02020603050405020304" pitchFamily="18" charset="0"/>
                <a:cs typeface="Times New Roman" panose="02020603050405020304" pitchFamily="18" charset="0"/>
              </a:rPr>
              <a:t> THE NEXT GENERATION OF AI ENABLED SMART FARMING </a:t>
            </a:r>
            <a:endParaRPr lang="en-IN" sz="28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9CFF32B-9547-408C-BE82-F38993455FBD}"/>
              </a:ext>
            </a:extLst>
          </p:cNvPr>
          <p:cNvSpPr txBox="1"/>
          <p:nvPr/>
        </p:nvSpPr>
        <p:spPr>
          <a:xfrm>
            <a:off x="1175657" y="3625343"/>
            <a:ext cx="2855167" cy="923330"/>
          </a:xfrm>
          <a:prstGeom prst="rect">
            <a:avLst/>
          </a:prstGeom>
          <a:noFill/>
        </p:spPr>
        <p:txBody>
          <a:bodyPr wrap="square" rtlCol="0">
            <a:spAutoFit/>
          </a:bodyPr>
          <a:lstStyle/>
          <a:p>
            <a:r>
              <a:rPr lang="en-US" dirty="0"/>
              <a:t>             </a:t>
            </a:r>
            <a:r>
              <a:rPr lang="en-US" b="1" dirty="0"/>
              <a:t>GUIDED BY</a:t>
            </a:r>
          </a:p>
          <a:p>
            <a:endParaRPr lang="en-US" dirty="0"/>
          </a:p>
          <a:p>
            <a:r>
              <a:rPr lang="en-US" dirty="0">
                <a:latin typeface="Times New Roman" panose="02020603050405020304" pitchFamily="18" charset="0"/>
                <a:cs typeface="Times New Roman" panose="02020603050405020304" pitchFamily="18" charset="0"/>
              </a:rPr>
              <a:t>Ms. </a:t>
            </a:r>
            <a:r>
              <a:rPr lang="en-US" dirty="0" err="1">
                <a:latin typeface="Times New Roman" panose="02020603050405020304" pitchFamily="18" charset="0"/>
                <a:cs typeface="Times New Roman" panose="02020603050405020304" pitchFamily="18" charset="0"/>
              </a:rPr>
              <a:t>Febin</a:t>
            </a:r>
            <a:r>
              <a:rPr lang="en-US" dirty="0">
                <a:latin typeface="Times New Roman" panose="02020603050405020304" pitchFamily="18" charset="0"/>
                <a:cs typeface="Times New Roman" panose="02020603050405020304" pitchFamily="18" charset="0"/>
              </a:rPr>
              <a:t> Rani  L(AP/CSE)</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0A57AD9-516C-4E9F-B466-DEDD1876A577}"/>
              </a:ext>
            </a:extLst>
          </p:cNvPr>
          <p:cNvSpPr txBox="1"/>
          <p:nvPr/>
        </p:nvSpPr>
        <p:spPr>
          <a:xfrm>
            <a:off x="6948195" y="3493064"/>
            <a:ext cx="4282752" cy="1846659"/>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           TEAM MEMBERS</a:t>
            </a:r>
          </a:p>
          <a:p>
            <a:endParaRPr lang="en-US" sz="1600" b="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AKSHAYA  M V (960321104012)</a:t>
            </a:r>
          </a:p>
          <a:p>
            <a:r>
              <a:rPr lang="en-US" sz="1600" dirty="0">
                <a:latin typeface="Times New Roman" panose="02020603050405020304" pitchFamily="18" charset="0"/>
                <a:cs typeface="Times New Roman" panose="02020603050405020304" pitchFamily="18" charset="0"/>
              </a:rPr>
              <a:t>ANISHA  M (960321104013)</a:t>
            </a:r>
          </a:p>
          <a:p>
            <a:r>
              <a:rPr lang="en-US" sz="1600" dirty="0">
                <a:latin typeface="Times New Roman" panose="02020603050405020304" pitchFamily="18" charset="0"/>
                <a:cs typeface="Times New Roman" panose="02020603050405020304" pitchFamily="18" charset="0"/>
              </a:rPr>
              <a:t>ANJUSHA  S (960321104014)</a:t>
            </a:r>
          </a:p>
          <a:p>
            <a:r>
              <a:rPr lang="en-US" sz="1600" dirty="0">
                <a:latin typeface="Times New Roman" panose="02020603050405020304" pitchFamily="18" charset="0"/>
                <a:cs typeface="Times New Roman" panose="02020603050405020304" pitchFamily="18" charset="0"/>
              </a:rPr>
              <a:t>AYARIN JUSME  J  V (960321104022)</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3625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F8EF09-2A3F-2909-358F-43E2A535014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A214437-7C1B-E0F5-D02E-F6379FB866E7}"/>
              </a:ext>
            </a:extLst>
          </p:cNvPr>
          <p:cNvSpPr>
            <a:spLocks noGrp="1"/>
          </p:cNvSpPr>
          <p:nvPr>
            <p:ph type="title"/>
          </p:nvPr>
        </p:nvSpPr>
        <p:spPr>
          <a:xfrm>
            <a:off x="876691" y="301843"/>
            <a:ext cx="10477109" cy="1003532"/>
          </a:xfrm>
        </p:spPr>
        <p:txBody>
          <a:bodyPr anchor="ctr">
            <a:normAutofit/>
          </a:bodyPr>
          <a:lstStyle/>
          <a:p>
            <a:r>
              <a:rPr lang="en-US" sz="3200" b="1" dirty="0">
                <a:solidFill>
                  <a:srgbClr val="FFFFFF"/>
                </a:solidFill>
                <a:latin typeface="Times New Roman" panose="02020603050405020304" pitchFamily="18" charset="0"/>
                <a:cs typeface="Times New Roman" panose="02020603050405020304" pitchFamily="18" charset="0"/>
              </a:rPr>
              <a:t>A</a:t>
            </a:r>
            <a:r>
              <a:rPr lang="en-IN" sz="3200" b="1" dirty="0" err="1">
                <a:solidFill>
                  <a:srgbClr val="FFFFFF"/>
                </a:solidFill>
                <a:latin typeface="Times New Roman" panose="02020603050405020304" pitchFamily="18" charset="0"/>
                <a:cs typeface="Times New Roman" panose="02020603050405020304" pitchFamily="18" charset="0"/>
              </a:rPr>
              <a:t>bstract</a:t>
            </a:r>
            <a:endParaRPr lang="en-IN" sz="3200" b="1"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FB8EC1-9D18-103E-199D-0D33E13FDF1E}"/>
              </a:ext>
            </a:extLst>
          </p:cNvPr>
          <p:cNvSpPr>
            <a:spLocks noGrp="1"/>
          </p:cNvSpPr>
          <p:nvPr>
            <p:ph idx="1"/>
          </p:nvPr>
        </p:nvSpPr>
        <p:spPr>
          <a:xfrm>
            <a:off x="506576" y="1821194"/>
            <a:ext cx="10945195" cy="4590491"/>
          </a:xfrm>
        </p:spPr>
        <p:txBody>
          <a:bodyPr>
            <a:normAutofit fontScale="85000" lnSpcReduction="20000"/>
          </a:bodyPr>
          <a:lstStyle/>
          <a:p>
            <a:pPr algn="just">
              <a:lnSpc>
                <a:spcPct val="160000"/>
              </a:lnSpc>
            </a:pPr>
            <a:r>
              <a:rPr lang="en-US" sz="1900" dirty="0">
                <a:latin typeface="Times New Roman" panose="02020603050405020304" pitchFamily="18" charset="0"/>
                <a:cs typeface="Times New Roman" panose="02020603050405020304" pitchFamily="18" charset="0"/>
              </a:rPr>
              <a:t>Smart farming is an innovative approach that leverages ML   and the Internet of Things (IoT) to optimize agricultural processes. Traditional farming methods often result in inefficient resource utilization, unpredictable yields, and susceptibility to environmental changes. This project aims to enhance precision agriculture by integrating IoT sensors, real-time data analytics, and predictive modeling to monitor and improve farming operations.</a:t>
            </a:r>
          </a:p>
          <a:p>
            <a:pPr algn="just">
              <a:lnSpc>
                <a:spcPct val="160000"/>
              </a:lnSpc>
            </a:pPr>
            <a:r>
              <a:rPr lang="en-US" sz="1900" dirty="0">
                <a:latin typeface="Times New Roman" panose="02020603050405020304" pitchFamily="18" charset="0"/>
                <a:cs typeface="Times New Roman" panose="02020603050405020304" pitchFamily="18" charset="0"/>
              </a:rPr>
              <a:t>IoT sensors collect real-time data on soil moisture, temperature, humidity, and crop health, which is then processed using machine learning algorithms to predict crop yield, detect diseases, and optimize irrigation schedules. Cloud-based data processing ensures large-scale data storage and trend analysis, enabling data-driven decision-making. Additionally, the system provides automated alerts and recommendations to farmers, helping them take proactive measures against pest infestations, adverse weather conditions, and inefficient resource use.</a:t>
            </a:r>
          </a:p>
          <a:p>
            <a:pPr algn="just">
              <a:lnSpc>
                <a:spcPct val="160000"/>
              </a:lnSpc>
            </a:pPr>
            <a:r>
              <a:rPr lang="en-US" sz="1900" dirty="0">
                <a:latin typeface="Times New Roman" panose="02020603050405020304" pitchFamily="18" charset="0"/>
                <a:cs typeface="Times New Roman" panose="02020603050405020304" pitchFamily="18" charset="0"/>
              </a:rPr>
              <a:t>The implementation of DL-driven smart farming leads to increased productivity, reduced operational costs, and sustainable agricultural practices. By integrating advanced AI-powered decision-making, this project contributes to food security, efficient resource management, and environmental conservation, making agriculture more resilient and technology-driven.</a:t>
            </a:r>
          </a:p>
          <a:p>
            <a:pPr marL="0" indent="0">
              <a:buNone/>
            </a:pPr>
            <a:endParaRPr lang="en-IN" sz="1700" dirty="0"/>
          </a:p>
        </p:txBody>
      </p:sp>
    </p:spTree>
    <p:extLst>
      <p:ext uri="{BB962C8B-B14F-4D97-AF65-F5344CB8AC3E}">
        <p14:creationId xmlns:p14="http://schemas.microsoft.com/office/powerpoint/2010/main" val="1179643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F8EF09-2A3F-2909-358F-43E2A535014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A214437-7C1B-E0F5-D02E-F6379FB866E7}"/>
              </a:ext>
            </a:extLst>
          </p:cNvPr>
          <p:cNvSpPr>
            <a:spLocks noGrp="1"/>
          </p:cNvSpPr>
          <p:nvPr>
            <p:ph type="title"/>
          </p:nvPr>
        </p:nvSpPr>
        <p:spPr>
          <a:xfrm>
            <a:off x="876691" y="301843"/>
            <a:ext cx="10477109" cy="1003532"/>
          </a:xfrm>
        </p:spPr>
        <p:txBody>
          <a:bodyPr anchor="ctr">
            <a:normAutofit/>
          </a:bodyPr>
          <a:lstStyle/>
          <a:p>
            <a:r>
              <a:rPr lang="en-US" sz="3200" b="1" dirty="0">
                <a:solidFill>
                  <a:srgbClr val="FFFFFF"/>
                </a:solidFill>
                <a:latin typeface="Times New Roman" panose="02020603050405020304" pitchFamily="18" charset="0"/>
                <a:cs typeface="Times New Roman" panose="02020603050405020304" pitchFamily="18" charset="0"/>
              </a:rPr>
              <a:t>Introduction</a:t>
            </a:r>
            <a:endParaRPr lang="en-IN" sz="3200" b="1"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FB8EC1-9D18-103E-199D-0D33E13FDF1E}"/>
              </a:ext>
            </a:extLst>
          </p:cNvPr>
          <p:cNvSpPr>
            <a:spLocks noGrp="1"/>
          </p:cNvSpPr>
          <p:nvPr>
            <p:ph idx="1"/>
          </p:nvPr>
        </p:nvSpPr>
        <p:spPr>
          <a:xfrm>
            <a:off x="506576" y="1821194"/>
            <a:ext cx="10945195" cy="4590491"/>
          </a:xfrm>
        </p:spPr>
        <p:txBody>
          <a:bodyPr>
            <a:normAutofit fontScale="85000" lnSpcReduction="20000"/>
          </a:bodyPr>
          <a:lstStyle/>
          <a:p>
            <a:pPr marL="0" indent="0" algn="just">
              <a:lnSpc>
                <a:spcPct val="150000"/>
              </a:lnSpc>
              <a:buNone/>
            </a:pPr>
            <a:r>
              <a:rPr lang="en-US" sz="1900" dirty="0">
                <a:latin typeface="Times New Roman" panose="02020603050405020304" pitchFamily="18" charset="0"/>
                <a:cs typeface="Times New Roman" panose="02020603050405020304" pitchFamily="18" charset="0"/>
              </a:rPr>
              <a:t>Traditional farming methods often rely on manual observations and generalized agricultural practices, leading to inefficient resource utilization, unpredictable yield outcomes, and vulnerability to pests and diseases. This project integrates Machine Learning (ML) and IoT sensors to implement smart farming techniques, enabling data-driven decision-making to enhance agricultural productivity and sustainability.</a:t>
            </a:r>
          </a:p>
          <a:p>
            <a:pPr marL="0" indent="0" algn="just">
              <a:lnSpc>
                <a:spcPct val="150000"/>
              </a:lnSpc>
              <a:buNone/>
            </a:pPr>
            <a:r>
              <a:rPr lang="en-US" sz="1900" dirty="0">
                <a:latin typeface="Times New Roman" panose="02020603050405020304" pitchFamily="18" charset="0"/>
                <a:cs typeface="Times New Roman" panose="02020603050405020304" pitchFamily="18" charset="0"/>
              </a:rPr>
              <a:t>Key Focus Areas:</a:t>
            </a:r>
          </a:p>
          <a:p>
            <a:pPr algn="just">
              <a:lnSpc>
                <a:spcPct val="150000"/>
              </a:lnSpc>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 IoT Sensor Integration – Collects real-time data on soil moisture, temperature, humidity, and crop health.</a:t>
            </a:r>
          </a:p>
          <a:p>
            <a:pPr algn="just">
              <a:lnSpc>
                <a:spcPct val="150000"/>
              </a:lnSpc>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Machine Learning Models – Analyzes environmental and crop data to predict yield, detect diseases, and optimize irrigation.</a:t>
            </a:r>
          </a:p>
          <a:p>
            <a:pPr algn="just">
              <a:lnSpc>
                <a:spcPct val="150000"/>
              </a:lnSpc>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Cloud-Based Data Processing – Stores and processes large-scale agricultural data for trend analysis and forecasting.</a:t>
            </a:r>
          </a:p>
          <a:p>
            <a:pPr algn="just">
              <a:lnSpc>
                <a:spcPct val="150000"/>
              </a:lnSpc>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Automated Alerts &amp; Recommendations – Sends real-time notifications on water needs, pest infestations, and weather-based advisories.</a:t>
            </a:r>
          </a:p>
          <a:p>
            <a:pPr algn="just">
              <a:lnSpc>
                <a:spcPct val="150000"/>
              </a:lnSpc>
              <a:buFont typeface="Wingdings" panose="05000000000000000000" pitchFamily="2" charset="2"/>
              <a:buChar char="§"/>
            </a:pPr>
            <a:r>
              <a:rPr lang="en-US" sz="1900" dirty="0">
                <a:latin typeface="Times New Roman" panose="02020603050405020304" pitchFamily="18" charset="0"/>
                <a:cs typeface="Times New Roman" panose="02020603050405020304" pitchFamily="18" charset="0"/>
              </a:rPr>
              <a:t> Precision Resource Management – Optimizes water, fertilizer, and pesticide usage, reducing waste and maximizing efficiency.</a:t>
            </a:r>
          </a:p>
          <a:p>
            <a:pPr marL="0" indent="0">
              <a:buNone/>
            </a:pPr>
            <a:endParaRPr lang="en-IN" sz="1700" dirty="0"/>
          </a:p>
        </p:txBody>
      </p:sp>
    </p:spTree>
    <p:extLst>
      <p:ext uri="{BB962C8B-B14F-4D97-AF65-F5344CB8AC3E}">
        <p14:creationId xmlns:p14="http://schemas.microsoft.com/office/powerpoint/2010/main" val="706312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D13A13-A44A-BB2B-671E-23F478F8DB3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DB412A61-F6CA-4DB6-A8BD-A48F7FB80E30}"/>
              </a:ext>
            </a:extLst>
          </p:cNvPr>
          <p:cNvSpPr txBox="1"/>
          <p:nvPr/>
        </p:nvSpPr>
        <p:spPr>
          <a:xfrm>
            <a:off x="821094" y="597159"/>
            <a:ext cx="375090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024C618E-2DB4-403A-B34B-613C276F3A8C}"/>
              </a:ext>
            </a:extLst>
          </p:cNvPr>
          <p:cNvGraphicFramePr>
            <a:graphicFrameLocks noGrp="1"/>
          </p:cNvGraphicFramePr>
          <p:nvPr>
            <p:extLst>
              <p:ext uri="{D42A27DB-BD31-4B8C-83A1-F6EECF244321}">
                <p14:modId xmlns:p14="http://schemas.microsoft.com/office/powerpoint/2010/main" val="408696702"/>
              </p:ext>
            </p:extLst>
          </p:nvPr>
        </p:nvGraphicFramePr>
        <p:xfrm>
          <a:off x="1088572" y="952836"/>
          <a:ext cx="10282334" cy="5282020"/>
        </p:xfrm>
        <a:graphic>
          <a:graphicData uri="http://schemas.openxmlformats.org/drawingml/2006/table">
            <a:tbl>
              <a:tblPr/>
              <a:tblGrid>
                <a:gridCol w="1866981">
                  <a:extLst>
                    <a:ext uri="{9D8B030D-6E8A-4147-A177-3AD203B41FA5}">
                      <a16:colId xmlns:a16="http://schemas.microsoft.com/office/drawing/2014/main" val="3064836623"/>
                    </a:ext>
                  </a:extLst>
                </a:gridCol>
                <a:gridCol w="1699791">
                  <a:extLst>
                    <a:ext uri="{9D8B030D-6E8A-4147-A177-3AD203B41FA5}">
                      <a16:colId xmlns:a16="http://schemas.microsoft.com/office/drawing/2014/main" val="298606126"/>
                    </a:ext>
                  </a:extLst>
                </a:gridCol>
                <a:gridCol w="2602628">
                  <a:extLst>
                    <a:ext uri="{9D8B030D-6E8A-4147-A177-3AD203B41FA5}">
                      <a16:colId xmlns:a16="http://schemas.microsoft.com/office/drawing/2014/main" val="1873643282"/>
                    </a:ext>
                  </a:extLst>
                </a:gridCol>
                <a:gridCol w="2056467">
                  <a:extLst>
                    <a:ext uri="{9D8B030D-6E8A-4147-A177-3AD203B41FA5}">
                      <a16:colId xmlns:a16="http://schemas.microsoft.com/office/drawing/2014/main" val="3032415965"/>
                    </a:ext>
                  </a:extLst>
                </a:gridCol>
                <a:gridCol w="2056467">
                  <a:extLst>
                    <a:ext uri="{9D8B030D-6E8A-4147-A177-3AD203B41FA5}">
                      <a16:colId xmlns:a16="http://schemas.microsoft.com/office/drawing/2014/main" val="3160957211"/>
                    </a:ext>
                  </a:extLst>
                </a:gridCol>
              </a:tblGrid>
              <a:tr h="238140">
                <a:tc>
                  <a:txBody>
                    <a:bodyPr/>
                    <a:lstStyle/>
                    <a:p>
                      <a:r>
                        <a:rPr lang="en-IN" sz="1400"/>
                        <a:t>Title</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Authors</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Method Used</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Pros</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Cons</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362738"/>
                  </a:ext>
                </a:extLst>
              </a:tr>
              <a:tr h="1073949">
                <a:tc>
                  <a:txBody>
                    <a:bodyPr/>
                    <a:lstStyle/>
                    <a:p>
                      <a:r>
                        <a:rPr lang="en-US" sz="1400" dirty="0"/>
                        <a:t>Estimation of Crop Yield From Combined Optical and SAR Imagery Using Gaussian Kernel Regression</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Y. </a:t>
                      </a:r>
                      <a:r>
                        <a:rPr lang="en-IN" sz="1400" dirty="0" err="1"/>
                        <a:t>Alebele</a:t>
                      </a:r>
                      <a:r>
                        <a:rPr lang="en-IN" sz="1400" dirty="0"/>
                        <a:t> et al. (2021)</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dirty="0"/>
                        <a:t>Gaussian Kernel Regression combining Sentinel-2 vegetation indices and Sentinel-1 SAR data</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Utilizes limited ground truth data; Synergetic use of SAR and optical data</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Dependent on quality of input data; Complexity in handling dual-source data</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2017919"/>
                  </a:ext>
                </a:extLst>
              </a:tr>
              <a:tr h="656045">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Efficient Smart Farm System Using ML</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Rashmirani Samantaray et al. (2023)</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Automation using Raspberry Pi and sensors for livestock monitoring</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Reduces manual labor; Enables smart farm automation</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Limited scalability; Power and sensor maintenance needed</a:t>
                      </a:r>
                      <a:endParaRPr lang="en-IN"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443662"/>
                  </a:ext>
                </a:extLst>
              </a:tr>
              <a:tr h="864997">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IoT Approach to Crop Health and Growth</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 Grimblatt et al. (2021)</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IoT-based ADMS with medium-cost sensors</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Affordable and real-time monitoring; Promotes sustainability</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Network dependency; Sensor calibration needed</a:t>
                      </a:r>
                      <a:endParaRPr lang="en-IN"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46407740"/>
                  </a:ext>
                </a:extLst>
              </a:tr>
              <a:tr h="864997">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IoT and ML in Agriculture</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 Shankar et al. (2024)</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Comparative study using deep learning and ML in smart farming</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Improves yield and water use; Enables disease detection</a:t>
                      </a:r>
                      <a:endParaRPr lang="en-IN" sz="1400" kern="10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6350" marR="207645" indent="-6350" algn="l">
                        <a:lnSpc>
                          <a:spcPct val="100000"/>
                        </a:lnSpc>
                        <a:spcAft>
                          <a:spcPts val="0"/>
                        </a:spcAft>
                      </a:pPr>
                      <a:r>
                        <a:rPr lang="en-IN" sz="14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Varying accuracy based on algorithm; Need for sensor infrastructure</a:t>
                      </a:r>
                      <a:endParaRPr lang="en-IN" sz="14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525" marR="9525" marT="9525" marB="95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4677003"/>
                  </a:ext>
                </a:extLst>
              </a:tr>
              <a:tr h="656045">
                <a:tc>
                  <a:txBody>
                    <a:bodyPr/>
                    <a:lstStyle/>
                    <a:p>
                      <a:r>
                        <a:rPr lang="it-IT" sz="1400"/>
                        <a:t>AAVI: Leaf Nitrogen Estimation in Rice</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sz="1400"/>
                        <a:t>W. Wang et al. (2021)</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Abundance Adjusted Vegetation Indices (AAVI) using UAV imagery</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Works at early/middle rice stages; Improves nitrogen estimation</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Limited to multispectral UAVs; Complex spectral unmixing</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9166446"/>
                  </a:ext>
                </a:extLst>
              </a:tr>
              <a:tr h="864997">
                <a:tc>
                  <a:txBody>
                    <a:bodyPr/>
                    <a:lstStyle/>
                    <a:p>
                      <a:r>
                        <a:rPr lang="en-US" sz="1400"/>
                        <a:t>Object-Based Mapping of Crop Coverage</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da-DK" sz="1400"/>
                        <a:t>Z. Tang et al. (2020)</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Multiscale object-based weighted method using GF-2 imagery</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Accurate mapping using ensemble learning; Reduces field visits</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Difficulty in scale parameter selection; Manual digitization required</a:t>
                      </a:r>
                    </a:p>
                  </a:txBody>
                  <a:tcPr marL="29804" marR="29804" marT="14902" marB="14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6761330"/>
                  </a:ext>
                </a:extLst>
              </a:tr>
            </a:tbl>
          </a:graphicData>
        </a:graphic>
      </p:graphicFrame>
    </p:spTree>
    <p:extLst>
      <p:ext uri="{BB962C8B-B14F-4D97-AF65-F5344CB8AC3E}">
        <p14:creationId xmlns:p14="http://schemas.microsoft.com/office/powerpoint/2010/main" val="3989321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F8EF09-2A3F-2909-358F-43E2A5350146}"/>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A214437-7C1B-E0F5-D02E-F6379FB866E7}"/>
              </a:ext>
            </a:extLst>
          </p:cNvPr>
          <p:cNvSpPr>
            <a:spLocks noGrp="1"/>
          </p:cNvSpPr>
          <p:nvPr>
            <p:ph type="title"/>
          </p:nvPr>
        </p:nvSpPr>
        <p:spPr>
          <a:xfrm>
            <a:off x="876691" y="301843"/>
            <a:ext cx="10477109" cy="1003532"/>
          </a:xfrm>
        </p:spPr>
        <p:txBody>
          <a:bodyPr anchor="ctr">
            <a:normAutofit/>
          </a:bodyPr>
          <a:lstStyle/>
          <a:p>
            <a:r>
              <a:rPr lang="en-IN" sz="3200" b="1" dirty="0">
                <a:solidFill>
                  <a:srgbClr val="FFFFFF"/>
                </a:solidFill>
                <a:latin typeface="Times New Roman" panose="02020603050405020304" pitchFamily="18" charset="0"/>
                <a:cs typeface="Times New Roman" panose="02020603050405020304" pitchFamily="18" charset="0"/>
              </a:rPr>
              <a:t>Existing System </a:t>
            </a:r>
          </a:p>
        </p:txBody>
      </p:sp>
      <p:sp>
        <p:nvSpPr>
          <p:cNvPr id="3" name="Content Placeholder 2">
            <a:extLst>
              <a:ext uri="{FF2B5EF4-FFF2-40B4-BE49-F238E27FC236}">
                <a16:creationId xmlns:a16="http://schemas.microsoft.com/office/drawing/2014/main" id="{6AFB8EC1-9D18-103E-199D-0D33E13FDF1E}"/>
              </a:ext>
            </a:extLst>
          </p:cNvPr>
          <p:cNvSpPr>
            <a:spLocks noGrp="1"/>
          </p:cNvSpPr>
          <p:nvPr>
            <p:ph idx="1"/>
          </p:nvPr>
        </p:nvSpPr>
        <p:spPr>
          <a:xfrm>
            <a:off x="506576" y="1821194"/>
            <a:ext cx="10945195" cy="4590491"/>
          </a:xfrm>
        </p:spPr>
        <p:txBody>
          <a:bodyPr>
            <a:normAutofit/>
          </a:bodyPr>
          <a:lstStyle/>
          <a:p>
            <a:pPr algn="just">
              <a:lnSpc>
                <a:spcPct val="150000"/>
              </a:lnSpc>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Traditional machine learning (ML) techniques have been extensively used in precision agriculture to analyze farm data and enhance decision-making. </a:t>
            </a:r>
          </a:p>
          <a:p>
            <a:pPr algn="just">
              <a:lnSpc>
                <a:spcPct val="150000"/>
              </a:lnSpc>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These techniques help in crop classification, pest detection, yield prediction, and resource optimization. Some of the widely used approaches include:</a:t>
            </a:r>
          </a:p>
          <a:p>
            <a:pPr marL="0" indent="0" algn="just">
              <a:lnSpc>
                <a:spcPct val="150000"/>
              </a:lnSpc>
              <a:buNone/>
            </a:pPr>
            <a:r>
              <a:rPr lang="en-US" sz="1700" dirty="0">
                <a:latin typeface="Times New Roman" panose="02020603050405020304" pitchFamily="18" charset="0"/>
                <a:cs typeface="Times New Roman" panose="02020603050405020304" pitchFamily="18" charset="0"/>
              </a:rPr>
              <a:t>Support Vector Machines (SVM)</a:t>
            </a:r>
          </a:p>
          <a:p>
            <a:pPr lvl="1" algn="just">
              <a:lnSpc>
                <a:spcPct val="150000"/>
              </a:lnSpc>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Used for crop classification, pest detection, and disease identification based on image data.</a:t>
            </a:r>
          </a:p>
          <a:p>
            <a:pPr lvl="1" algn="just">
              <a:lnSpc>
                <a:spcPct val="150000"/>
              </a:lnSpc>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Effective in detecting patterns in plant health but requires manual feature extraction and struggles with high-dimensional data. </a:t>
            </a:r>
          </a:p>
          <a:p>
            <a:pPr marL="457200" lvl="1" indent="0" algn="just">
              <a:lnSpc>
                <a:spcPct val="150000"/>
              </a:lnSpc>
              <a:buNone/>
            </a:pPr>
            <a:r>
              <a:rPr lang="en-US" sz="1700" dirty="0">
                <a:latin typeface="Times New Roman" panose="02020603050405020304" pitchFamily="18" charset="0"/>
                <a:cs typeface="Times New Roman" panose="02020603050405020304" pitchFamily="18" charset="0"/>
              </a:rPr>
              <a:t>While these techniques provide useful insights, they often struggle with handling large-scale, high-dimensional data, requiring manual feature extraction and offering limited accuracy in complex agricultural environments.</a:t>
            </a:r>
          </a:p>
          <a:p>
            <a:pPr marL="0" indent="0">
              <a:buNone/>
            </a:pPr>
            <a:endParaRPr lang="en-IN" sz="1700" dirty="0"/>
          </a:p>
        </p:txBody>
      </p:sp>
    </p:spTree>
    <p:extLst>
      <p:ext uri="{BB962C8B-B14F-4D97-AF65-F5344CB8AC3E}">
        <p14:creationId xmlns:p14="http://schemas.microsoft.com/office/powerpoint/2010/main" val="3666378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742820-869E-3321-1FFA-4382411A370A}"/>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B1A4BD3-A712-AA1B-67C0-91AD7C0EE8D6}"/>
              </a:ext>
            </a:extLst>
          </p:cNvPr>
          <p:cNvSpPr>
            <a:spLocks noGrp="1"/>
          </p:cNvSpPr>
          <p:nvPr>
            <p:ph type="title"/>
          </p:nvPr>
        </p:nvSpPr>
        <p:spPr>
          <a:xfrm>
            <a:off x="876691" y="283182"/>
            <a:ext cx="10477109" cy="1003532"/>
          </a:xfrm>
        </p:spPr>
        <p:txBody>
          <a:bodyPr anchor="ctr">
            <a:normAutofit/>
          </a:bodyPr>
          <a:lstStyle/>
          <a:p>
            <a:r>
              <a:rPr lang="en-IN" sz="3200" b="1" dirty="0">
                <a:solidFill>
                  <a:srgbClr val="FFFFFF"/>
                </a:solidFill>
                <a:latin typeface="Times New Roman" panose="02020603050405020304" pitchFamily="18" charset="0"/>
                <a:cs typeface="Times New Roman" panose="02020603050405020304" pitchFamily="18" charset="0"/>
              </a:rPr>
              <a:t>Disadvantages </a:t>
            </a:r>
          </a:p>
        </p:txBody>
      </p:sp>
      <p:sp>
        <p:nvSpPr>
          <p:cNvPr id="3" name="Content Placeholder 2">
            <a:extLst>
              <a:ext uri="{FF2B5EF4-FFF2-40B4-BE49-F238E27FC236}">
                <a16:creationId xmlns:a16="http://schemas.microsoft.com/office/drawing/2014/main" id="{82096A95-8AD2-6E5C-8FAF-EE7AAC579F70}"/>
              </a:ext>
            </a:extLst>
          </p:cNvPr>
          <p:cNvSpPr>
            <a:spLocks noGrp="1"/>
          </p:cNvSpPr>
          <p:nvPr>
            <p:ph idx="1"/>
          </p:nvPr>
        </p:nvSpPr>
        <p:spPr>
          <a:xfrm>
            <a:off x="2241754" y="2308124"/>
            <a:ext cx="7720781" cy="3673576"/>
          </a:xfrm>
        </p:spPr>
        <p:txBody>
          <a:bodyPr>
            <a:normAutofit/>
          </a:bodyPr>
          <a:lstStyle/>
          <a:p>
            <a:pPr>
              <a:buFont typeface="Wingdings" panose="05000000000000000000" pitchFamily="2" charset="2"/>
              <a:buChar char="§"/>
            </a:pPr>
            <a:r>
              <a:rPr lang="en-IN" sz="2000">
                <a:latin typeface="Times New Roman" panose="02020603050405020304" pitchFamily="18" charset="0"/>
                <a:cs typeface="Times New Roman" panose="02020603050405020304" pitchFamily="18" charset="0"/>
              </a:rPr>
              <a:t>Manual Feature Engineering</a:t>
            </a:r>
          </a:p>
          <a:p>
            <a:pPr>
              <a:buFont typeface="Wingdings" panose="05000000000000000000" pitchFamily="2" charset="2"/>
              <a:buChar char="§"/>
            </a:pPr>
            <a:r>
              <a:rPr lang="en-IN" sz="2000">
                <a:latin typeface="Times New Roman" panose="02020603050405020304" pitchFamily="18" charset="0"/>
                <a:cs typeface="Times New Roman" panose="02020603050405020304" pitchFamily="18" charset="0"/>
              </a:rPr>
              <a:t>Limited Scalability &amp; Generalization</a:t>
            </a:r>
          </a:p>
          <a:p>
            <a:pPr>
              <a:buFont typeface="Wingdings" panose="05000000000000000000" pitchFamily="2" charset="2"/>
              <a:buChar char="§"/>
            </a:pPr>
            <a:r>
              <a:rPr lang="en-IN" sz="2000">
                <a:latin typeface="Times New Roman" panose="02020603050405020304" pitchFamily="18" charset="0"/>
                <a:cs typeface="Times New Roman" panose="02020603050405020304" pitchFamily="18" charset="0"/>
              </a:rPr>
              <a:t>Struggles with High-Dimensional Data</a:t>
            </a:r>
          </a:p>
          <a:p>
            <a:pPr>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Lower Accuracy in Complex Scenarios</a:t>
            </a:r>
            <a:endParaRPr lang="en-IN" sz="200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Static Nature &amp; Lack of Real-Time Learning</a:t>
            </a:r>
            <a:endParaRPr lang="en-IN" sz="200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000">
                <a:latin typeface="Times New Roman" panose="02020603050405020304" pitchFamily="18" charset="0"/>
                <a:cs typeface="Times New Roman" panose="02020603050405020304" pitchFamily="18" charset="0"/>
              </a:rPr>
              <a:t>Computational Limitations &amp; Processing Speed</a:t>
            </a:r>
          </a:p>
          <a:p>
            <a:pPr>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Lower Performance in Image-Based Applications</a:t>
            </a:r>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6776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742820-869E-3321-1FFA-4382411A370A}"/>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B1A4BD3-A712-AA1B-67C0-91AD7C0EE8D6}"/>
              </a:ext>
            </a:extLst>
          </p:cNvPr>
          <p:cNvSpPr>
            <a:spLocks noGrp="1"/>
          </p:cNvSpPr>
          <p:nvPr>
            <p:ph type="title"/>
          </p:nvPr>
        </p:nvSpPr>
        <p:spPr>
          <a:xfrm>
            <a:off x="876691" y="283182"/>
            <a:ext cx="10477109" cy="1003532"/>
          </a:xfrm>
        </p:spPr>
        <p:txBody>
          <a:bodyPr anchor="ctr">
            <a:normAutofit/>
          </a:bodyPr>
          <a:lstStyle/>
          <a:p>
            <a:r>
              <a:rPr lang="en-IN" sz="3200" b="1" dirty="0">
                <a:solidFill>
                  <a:schemeClr val="bg1"/>
                </a:solidFill>
                <a:latin typeface="Times New Roman" panose="02020603050405020304" pitchFamily="18" charset="0"/>
                <a:cs typeface="Times New Roman" panose="02020603050405020304" pitchFamily="18" charset="0"/>
              </a:rPr>
              <a:t>Proposed System </a:t>
            </a:r>
          </a:p>
        </p:txBody>
      </p:sp>
      <p:sp>
        <p:nvSpPr>
          <p:cNvPr id="3" name="Content Placeholder 2">
            <a:extLst>
              <a:ext uri="{FF2B5EF4-FFF2-40B4-BE49-F238E27FC236}">
                <a16:creationId xmlns:a16="http://schemas.microsoft.com/office/drawing/2014/main" id="{82096A95-8AD2-6E5C-8FAF-EE7AAC579F70}"/>
              </a:ext>
            </a:extLst>
          </p:cNvPr>
          <p:cNvSpPr>
            <a:spLocks noGrp="1"/>
          </p:cNvSpPr>
          <p:nvPr>
            <p:ph idx="1"/>
          </p:nvPr>
        </p:nvSpPr>
        <p:spPr>
          <a:xfrm>
            <a:off x="876690" y="1802534"/>
            <a:ext cx="10739921" cy="4179166"/>
          </a:xfrm>
        </p:spPr>
        <p:txBody>
          <a:bodyPr>
            <a:normAutofit/>
          </a:bodyPr>
          <a:lstStyle/>
          <a:p>
            <a:pPr marL="0" indent="0">
              <a:lnSpc>
                <a:spcPct val="150000"/>
              </a:lnSpc>
              <a:buNone/>
            </a:pPr>
            <a:r>
              <a:rPr lang="en-US" sz="1700" dirty="0">
                <a:latin typeface="Times New Roman" panose="02020603050405020304" pitchFamily="18" charset="0"/>
                <a:cs typeface="Times New Roman" panose="02020603050405020304" pitchFamily="18" charset="0"/>
              </a:rPr>
              <a:t>The proposed system enhances traditional ML techniques by integrating Deep Learning (DL) for higher accuracy, automated feature extraction, and real-time decision-making. Key advancements include:</a:t>
            </a:r>
          </a:p>
          <a:p>
            <a:pPr marL="0" indent="0">
              <a:lnSpc>
                <a:spcPct val="150000"/>
              </a:lnSpc>
              <a:buNone/>
            </a:pPr>
            <a:r>
              <a:rPr lang="en-US" sz="1700" dirty="0">
                <a:latin typeface="Times New Roman" panose="02020603050405020304" pitchFamily="18" charset="0"/>
                <a:cs typeface="Times New Roman" panose="02020603050405020304" pitchFamily="18" charset="0"/>
              </a:rPr>
              <a:t>Convolutional Neural Networks (CNNs)</a:t>
            </a:r>
          </a:p>
          <a:p>
            <a:pPr lvl="1">
              <a:lnSpc>
                <a:spcPct val="150000"/>
              </a:lnSpc>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Used for image-based disease detection in crops.</a:t>
            </a:r>
          </a:p>
          <a:p>
            <a:pPr lvl="1">
              <a:lnSpc>
                <a:spcPct val="150000"/>
              </a:lnSpc>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Can analyze leaf images to identify diseases like fungal infections or nutrient deficiencies.</a:t>
            </a:r>
          </a:p>
          <a:p>
            <a:pPr lvl="1">
              <a:lnSpc>
                <a:spcPct val="150000"/>
              </a:lnSpc>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Enhances precision in pest detection using drone or camera-captured images.</a:t>
            </a:r>
          </a:p>
          <a:p>
            <a:pPr marL="0" indent="0">
              <a:lnSpc>
                <a:spcPct val="150000"/>
              </a:lnSpc>
              <a:buNone/>
            </a:pPr>
            <a:r>
              <a:rPr lang="en-US" sz="1700" dirty="0">
                <a:latin typeface="Times New Roman" panose="02020603050405020304" pitchFamily="18" charset="0"/>
                <a:cs typeface="Times New Roman" panose="02020603050405020304" pitchFamily="18" charset="0"/>
              </a:rPr>
              <a:t> Long Short-Term Memory (LSTM)</a:t>
            </a:r>
          </a:p>
          <a:p>
            <a:pPr lvl="1">
              <a:lnSpc>
                <a:spcPct val="150000"/>
              </a:lnSpc>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Applied for time-series analysis of sensor data (temperature, humidity, soil moisture).</a:t>
            </a:r>
          </a:p>
          <a:p>
            <a:pPr lvl="1">
              <a:lnSpc>
                <a:spcPct val="150000"/>
              </a:lnSpc>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Predicts future weather conditions, irrigation needs, and potential risks of crop failure.</a:t>
            </a:r>
          </a:p>
          <a:p>
            <a:pPr marL="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125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80B93-7FB8-9EBC-7062-BB4E99C1F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3D287D-20E1-BE14-79C5-A2E3BE9D11BE}"/>
              </a:ext>
            </a:extLst>
          </p:cNvPr>
          <p:cNvSpPr>
            <a:spLocks noGrp="1"/>
          </p:cNvSpPr>
          <p:nvPr>
            <p:ph type="title"/>
          </p:nvPr>
        </p:nvSpPr>
        <p:spPr>
          <a:xfrm>
            <a:off x="98323" y="0"/>
            <a:ext cx="10515600" cy="1325563"/>
          </a:xfrm>
        </p:spPr>
        <p:txBody>
          <a:bodyPr/>
          <a:lstStyle/>
          <a:p>
            <a:r>
              <a:rPr lang="en-IN" b="1" dirty="0">
                <a:latin typeface="Times New Roman" panose="02020603050405020304" pitchFamily="18" charset="0"/>
                <a:cs typeface="Times New Roman" panose="02020603050405020304" pitchFamily="18" charset="0"/>
              </a:rPr>
              <a:t>Advantages</a:t>
            </a:r>
          </a:p>
        </p:txBody>
      </p:sp>
      <p:graphicFrame>
        <p:nvGraphicFramePr>
          <p:cNvPr id="7" name="Content Placeholder 2">
            <a:extLst>
              <a:ext uri="{FF2B5EF4-FFF2-40B4-BE49-F238E27FC236}">
                <a16:creationId xmlns:a16="http://schemas.microsoft.com/office/drawing/2014/main" id="{78A7858F-93A0-0A16-2C3C-A9B4ABC52CBB}"/>
              </a:ext>
            </a:extLst>
          </p:cNvPr>
          <p:cNvGraphicFramePr>
            <a:graphicFrameLocks noGrp="1"/>
          </p:cNvGraphicFramePr>
          <p:nvPr>
            <p:ph idx="1"/>
          </p:nvPr>
        </p:nvGraphicFramePr>
        <p:xfrm>
          <a:off x="530942" y="1253331"/>
          <a:ext cx="10960510" cy="50491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91427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0D634A-1471-13F1-ECC1-AF3235BB6CF4}"/>
            </a:ext>
          </a:extLst>
        </p:cNvPr>
        <p:cNvGrpSpPr/>
        <p:nvPr/>
      </p:nvGrpSpPr>
      <p:grpSpPr>
        <a:xfrm>
          <a:off x="0" y="0"/>
          <a:ext cx="0" cy="0"/>
          <a:chOff x="0" y="0"/>
          <a:chExt cx="0" cy="0"/>
        </a:xfrm>
      </p:grpSpPr>
      <p:sp>
        <p:nvSpPr>
          <p:cNvPr id="54"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4CF3F0-6144-858E-A467-E3717C2D6ABD}"/>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b="1" kern="1200" dirty="0">
                <a:solidFill>
                  <a:srgbClr val="FFFFFF"/>
                </a:solidFill>
                <a:latin typeface="+mj-lt"/>
                <a:ea typeface="+mj-ea"/>
                <a:cs typeface="+mj-cs"/>
              </a:rPr>
              <a:t>Architecture Diagram </a:t>
            </a:r>
          </a:p>
        </p:txBody>
      </p:sp>
      <p:grpSp>
        <p:nvGrpSpPr>
          <p:cNvPr id="40" name="Group 39">
            <a:extLst>
              <a:ext uri="{FF2B5EF4-FFF2-40B4-BE49-F238E27FC236}">
                <a16:creationId xmlns:a16="http://schemas.microsoft.com/office/drawing/2014/main" id="{27951959-32A0-4DA7-B7FA-DEA29FC5A206}"/>
              </a:ext>
            </a:extLst>
          </p:cNvPr>
          <p:cNvGrpSpPr>
            <a:grpSpLocks/>
          </p:cNvGrpSpPr>
          <p:nvPr/>
        </p:nvGrpSpPr>
        <p:grpSpPr bwMode="auto">
          <a:xfrm>
            <a:off x="5836650" y="112542"/>
            <a:ext cx="5410200" cy="6102350"/>
            <a:chOff x="0" y="0"/>
            <a:chExt cx="54701" cy="77920"/>
          </a:xfrm>
        </p:grpSpPr>
        <p:sp>
          <p:nvSpPr>
            <p:cNvPr id="41" name="Rectangle 40">
              <a:extLst>
                <a:ext uri="{FF2B5EF4-FFF2-40B4-BE49-F238E27FC236}">
                  <a16:creationId xmlns:a16="http://schemas.microsoft.com/office/drawing/2014/main" id="{8AC18DA1-02C6-42C0-91EC-E1C4942CDE10}"/>
                </a:ext>
              </a:extLst>
            </p:cNvPr>
            <p:cNvSpPr>
              <a:spLocks noChangeArrowheads="1"/>
            </p:cNvSpPr>
            <p:nvPr/>
          </p:nvSpPr>
          <p:spPr bwMode="auto">
            <a:xfrm>
              <a:off x="27965" y="19045"/>
              <a:ext cx="26736" cy="27967"/>
            </a:xfrm>
            <a:prstGeom prst="rect">
              <a:avLst/>
            </a:prstGeom>
            <a:solidFill>
              <a:schemeClr val="lt1">
                <a:lumMod val="100000"/>
                <a:lumOff val="0"/>
              </a:schemeClr>
            </a:solidFill>
            <a:ln w="12700">
              <a:solidFill>
                <a:schemeClr val="dk1">
                  <a:lumMod val="100000"/>
                  <a:lumOff val="0"/>
                </a:schemeClr>
              </a:solidFill>
              <a:prstDash val="dash"/>
              <a:miter lim="800000"/>
              <a:headEnd/>
              <a:tailEnd/>
            </a:ln>
          </p:spPr>
          <p:txBody>
            <a:bodyPr rot="0" vert="horz" wrap="square" lIns="91440" tIns="45720" rIns="91440" bIns="45720" anchor="t" anchorCtr="0" upright="1">
              <a:noAutofit/>
            </a:bodyPr>
            <a:lstStyle/>
            <a:p>
              <a:pPr marL="6350" marR="207645" indent="-6350" algn="ctr">
                <a:lnSpc>
                  <a:spcPct val="163000"/>
                </a:lnSpc>
                <a:spcAft>
                  <a:spcPts val="0"/>
                </a:spcAft>
              </a:pPr>
              <a:r>
                <a:rPr lang="en-IN" sz="1200" kern="1200" dirty="0">
                  <a:solidFill>
                    <a:srgbClr val="000000"/>
                  </a:solidFill>
                  <a:effectLst/>
                  <a:latin typeface="Times New Roman" panose="02020603050405020304" pitchFamily="18" charset="0"/>
                  <a:ea typeface="Calibri" panose="020F0502020204030204" pitchFamily="34" charset="0"/>
                </a:rPr>
                <a:t>CNN Model</a:t>
              </a:r>
              <a:endParaRPr lang="en-IN" sz="1400" kern="100" dirty="0">
                <a:solidFill>
                  <a:srgbClr val="000000"/>
                </a:solidFill>
                <a:effectLst/>
                <a:latin typeface="Times New Roman" panose="02020603050405020304" pitchFamily="18" charset="0"/>
                <a:ea typeface="Times New Roman" panose="02020603050405020304" pitchFamily="18" charset="0"/>
              </a:endParaRPr>
            </a:p>
            <a:p>
              <a:pPr marL="6350" marR="207645" indent="-6350" algn="ctr">
                <a:lnSpc>
                  <a:spcPct val="163000"/>
                </a:lnSpc>
                <a:spcAft>
                  <a:spcPts val="0"/>
                </a:spcAft>
              </a:pPr>
              <a:r>
                <a:rPr lang="en-IN" sz="1200" kern="1200" dirty="0">
                  <a:solidFill>
                    <a:srgbClr val="000000"/>
                  </a:solidFill>
                  <a:effectLst/>
                  <a:latin typeface="Times New Roman" panose="02020603050405020304" pitchFamily="18" charset="0"/>
                  <a:ea typeface="Calibri" panose="020F0502020204030204" pitchFamily="34" charset="0"/>
                </a:rPr>
                <a:t> </a:t>
              </a:r>
              <a:endParaRPr lang="en-IN" sz="1400" kern="100" dirty="0">
                <a:solidFill>
                  <a:srgbClr val="000000"/>
                </a:solidFill>
                <a:effectLst/>
                <a:latin typeface="Times New Roman" panose="02020603050405020304" pitchFamily="18" charset="0"/>
                <a:ea typeface="Times New Roman" panose="02020603050405020304" pitchFamily="18" charset="0"/>
              </a:endParaRPr>
            </a:p>
            <a:p>
              <a:pPr marL="6350" marR="207645" indent="-6350" algn="ctr">
                <a:lnSpc>
                  <a:spcPct val="163000"/>
                </a:lnSpc>
                <a:spcAft>
                  <a:spcPts val="0"/>
                </a:spcAft>
              </a:pPr>
              <a:r>
                <a:rPr lang="en-IN" sz="1200" kern="1200" dirty="0">
                  <a:solidFill>
                    <a:srgbClr val="000000"/>
                  </a:solidFill>
                  <a:effectLst/>
                  <a:latin typeface="Times New Roman" panose="02020603050405020304" pitchFamily="18" charset="0"/>
                  <a:ea typeface="Calibri" panose="020F0502020204030204" pitchFamily="34" charset="0"/>
                </a:rPr>
                <a:t> </a:t>
              </a:r>
              <a:endParaRPr lang="en-IN" sz="1400" kern="100" dirty="0">
                <a:solidFill>
                  <a:srgbClr val="000000"/>
                </a:solidFill>
                <a:effectLst/>
                <a:latin typeface="Times New Roman" panose="02020603050405020304" pitchFamily="18" charset="0"/>
                <a:ea typeface="Times New Roman" panose="02020603050405020304" pitchFamily="18" charset="0"/>
              </a:endParaRPr>
            </a:p>
            <a:p>
              <a:pPr marL="6350" marR="207645" indent="-6350" algn="ctr">
                <a:lnSpc>
                  <a:spcPct val="163000"/>
                </a:lnSpc>
                <a:spcAft>
                  <a:spcPts val="0"/>
                </a:spcAft>
              </a:pPr>
              <a:r>
                <a:rPr lang="en-IN" sz="1200" kern="1200" dirty="0">
                  <a:solidFill>
                    <a:srgbClr val="000000"/>
                  </a:solidFill>
                  <a:effectLst/>
                  <a:latin typeface="Times New Roman" panose="02020603050405020304" pitchFamily="18" charset="0"/>
                  <a:ea typeface="Calibri" panose="020F0502020204030204" pitchFamily="34" charset="0"/>
                </a:rPr>
                <a:t> </a:t>
              </a:r>
              <a:endParaRPr lang="en-IN" sz="1400" kern="100" dirty="0">
                <a:solidFill>
                  <a:srgbClr val="000000"/>
                </a:solidFill>
                <a:effectLst/>
                <a:latin typeface="Times New Roman" panose="02020603050405020304" pitchFamily="18" charset="0"/>
                <a:ea typeface="Times New Roman" panose="02020603050405020304" pitchFamily="18" charset="0"/>
              </a:endParaRPr>
            </a:p>
            <a:p>
              <a:pPr marL="6350" marR="207645" indent="-6350" algn="just">
                <a:lnSpc>
                  <a:spcPct val="163000"/>
                </a:lnSpc>
                <a:spcAft>
                  <a:spcPts val="850"/>
                </a:spcAft>
              </a:pPr>
              <a:r>
                <a:rPr lang="en-IN" sz="1400" kern="100" dirty="0">
                  <a:solidFill>
                    <a:srgbClr val="000000"/>
                  </a:solidFill>
                  <a:effectLst/>
                  <a:latin typeface="Times New Roman" panose="02020603050405020304" pitchFamily="18" charset="0"/>
                  <a:ea typeface="Times New Roman" panose="02020603050405020304" pitchFamily="18" charset="0"/>
                </a:rPr>
                <a:t> </a:t>
              </a:r>
            </a:p>
          </p:txBody>
        </p:sp>
        <p:sp>
          <p:nvSpPr>
            <p:cNvPr id="42" name="Rectangle 41">
              <a:extLst>
                <a:ext uri="{FF2B5EF4-FFF2-40B4-BE49-F238E27FC236}">
                  <a16:creationId xmlns:a16="http://schemas.microsoft.com/office/drawing/2014/main" id="{C972AE1D-7419-40A6-B386-EC8D9F54CC39}"/>
                </a:ext>
              </a:extLst>
            </p:cNvPr>
            <p:cNvSpPr>
              <a:spLocks noChangeArrowheads="1"/>
            </p:cNvSpPr>
            <p:nvPr/>
          </p:nvSpPr>
          <p:spPr bwMode="auto">
            <a:xfrm>
              <a:off x="30697" y="0"/>
              <a:ext cx="21140" cy="3301"/>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a:solidFill>
                    <a:srgbClr val="000000"/>
                  </a:solidFill>
                  <a:effectLst/>
                  <a:latin typeface="Times New Roman" panose="02020603050405020304" pitchFamily="18" charset="0"/>
                  <a:ea typeface="Calibri" panose="020F0502020204030204" pitchFamily="34" charset="0"/>
                </a:rPr>
                <a:t>Data Acquisition</a:t>
              </a:r>
              <a:endParaRPr lang="en-IN" sz="1400" kern="100">
                <a:solidFill>
                  <a:srgbClr val="000000"/>
                </a:solidFill>
                <a:effectLst/>
                <a:latin typeface="Times New Roman" panose="02020603050405020304" pitchFamily="18" charset="0"/>
                <a:ea typeface="Times New Roman" panose="02020603050405020304" pitchFamily="18" charset="0"/>
              </a:endParaRPr>
            </a:p>
          </p:txBody>
        </p:sp>
        <p:sp>
          <p:nvSpPr>
            <p:cNvPr id="43" name="Rectangle 42">
              <a:extLst>
                <a:ext uri="{FF2B5EF4-FFF2-40B4-BE49-F238E27FC236}">
                  <a16:creationId xmlns:a16="http://schemas.microsoft.com/office/drawing/2014/main" id="{EDEE26DB-0F1C-4000-88E0-F66266C6D0EF}"/>
                </a:ext>
              </a:extLst>
            </p:cNvPr>
            <p:cNvSpPr>
              <a:spLocks noChangeArrowheads="1"/>
            </p:cNvSpPr>
            <p:nvPr/>
          </p:nvSpPr>
          <p:spPr bwMode="auto">
            <a:xfrm>
              <a:off x="30697" y="6422"/>
              <a:ext cx="21140" cy="3302"/>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a:solidFill>
                    <a:srgbClr val="000000"/>
                  </a:solidFill>
                  <a:effectLst/>
                  <a:latin typeface="Times New Roman" panose="02020603050405020304" pitchFamily="18" charset="0"/>
                  <a:ea typeface="Calibri" panose="020F0502020204030204" pitchFamily="34" charset="0"/>
                </a:rPr>
                <a:t>Soil Properties</a:t>
              </a:r>
              <a:endParaRPr lang="en-IN" sz="1400" kern="100">
                <a:solidFill>
                  <a:srgbClr val="000000"/>
                </a:solidFill>
                <a:effectLst/>
                <a:latin typeface="Times New Roman" panose="02020603050405020304" pitchFamily="18" charset="0"/>
                <a:ea typeface="Times New Roman" panose="02020603050405020304" pitchFamily="18" charset="0"/>
              </a:endParaRPr>
            </a:p>
          </p:txBody>
        </p:sp>
        <p:sp>
          <p:nvSpPr>
            <p:cNvPr id="44" name="Rectangle 43">
              <a:extLst>
                <a:ext uri="{FF2B5EF4-FFF2-40B4-BE49-F238E27FC236}">
                  <a16:creationId xmlns:a16="http://schemas.microsoft.com/office/drawing/2014/main" id="{3719FBCA-12B9-462F-A951-41AB891F737C}"/>
                </a:ext>
              </a:extLst>
            </p:cNvPr>
            <p:cNvSpPr>
              <a:spLocks noChangeArrowheads="1"/>
            </p:cNvSpPr>
            <p:nvPr/>
          </p:nvSpPr>
          <p:spPr bwMode="auto">
            <a:xfrm>
              <a:off x="0" y="6422"/>
              <a:ext cx="21139" cy="3302"/>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a:solidFill>
                    <a:srgbClr val="000000"/>
                  </a:solidFill>
                  <a:effectLst/>
                  <a:latin typeface="Times New Roman" panose="02020603050405020304" pitchFamily="18" charset="0"/>
                  <a:ea typeface="Calibri" panose="020F0502020204030204" pitchFamily="34" charset="0"/>
                </a:rPr>
                <a:t>Atmospheric Data</a:t>
              </a:r>
              <a:endParaRPr lang="en-IN" sz="1400" kern="100">
                <a:solidFill>
                  <a:srgbClr val="000000"/>
                </a:solidFill>
                <a:effectLst/>
                <a:latin typeface="Times New Roman" panose="02020603050405020304" pitchFamily="18" charset="0"/>
                <a:ea typeface="Times New Roman" panose="02020603050405020304" pitchFamily="18" charset="0"/>
              </a:endParaRPr>
            </a:p>
          </p:txBody>
        </p:sp>
        <p:sp>
          <p:nvSpPr>
            <p:cNvPr id="45" name="Rectangle 44">
              <a:extLst>
                <a:ext uri="{FF2B5EF4-FFF2-40B4-BE49-F238E27FC236}">
                  <a16:creationId xmlns:a16="http://schemas.microsoft.com/office/drawing/2014/main" id="{84C3A590-016C-43CF-860B-F3FEE0E8F610}"/>
                </a:ext>
              </a:extLst>
            </p:cNvPr>
            <p:cNvSpPr>
              <a:spLocks noChangeArrowheads="1"/>
            </p:cNvSpPr>
            <p:nvPr/>
          </p:nvSpPr>
          <p:spPr bwMode="auto">
            <a:xfrm>
              <a:off x="30697" y="12845"/>
              <a:ext cx="21140" cy="3301"/>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a:solidFill>
                    <a:srgbClr val="000000"/>
                  </a:solidFill>
                  <a:effectLst/>
                  <a:latin typeface="Times New Roman" panose="02020603050405020304" pitchFamily="18" charset="0"/>
                  <a:ea typeface="Calibri" panose="020F0502020204030204" pitchFamily="34" charset="0"/>
                </a:rPr>
                <a:t>Preprocessing</a:t>
              </a:r>
              <a:endParaRPr lang="en-IN" sz="1400" kern="100">
                <a:solidFill>
                  <a:srgbClr val="000000"/>
                </a:solidFill>
                <a:effectLst/>
                <a:latin typeface="Times New Roman" panose="02020603050405020304" pitchFamily="18" charset="0"/>
                <a:ea typeface="Times New Roman" panose="02020603050405020304" pitchFamily="18" charset="0"/>
              </a:endParaRPr>
            </a:p>
          </p:txBody>
        </p:sp>
        <p:cxnSp>
          <p:nvCxnSpPr>
            <p:cNvPr id="46" name="Connector: Elbow 45">
              <a:extLst>
                <a:ext uri="{FF2B5EF4-FFF2-40B4-BE49-F238E27FC236}">
                  <a16:creationId xmlns:a16="http://schemas.microsoft.com/office/drawing/2014/main" id="{5265E1EE-51D2-4431-97BB-7D74B2F99A07}"/>
                </a:ext>
              </a:extLst>
            </p:cNvPr>
            <p:cNvCxnSpPr>
              <a:cxnSpLocks/>
            </p:cNvCxnSpPr>
            <p:nvPr/>
          </p:nvCxnSpPr>
          <p:spPr bwMode="auto">
            <a:xfrm rot="16200000" flipH="1">
              <a:off x="18232" y="1982"/>
              <a:ext cx="4743" cy="20134"/>
            </a:xfrm>
            <a:prstGeom prst="bentConnector2">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sp>
          <p:nvSpPr>
            <p:cNvPr id="47" name="Rectangle 46">
              <a:extLst>
                <a:ext uri="{FF2B5EF4-FFF2-40B4-BE49-F238E27FC236}">
                  <a16:creationId xmlns:a16="http://schemas.microsoft.com/office/drawing/2014/main" id="{A1FB3D1A-E78B-4128-8DCB-8BD1F161770C}"/>
                </a:ext>
              </a:extLst>
            </p:cNvPr>
            <p:cNvSpPr>
              <a:spLocks noChangeArrowheads="1"/>
            </p:cNvSpPr>
            <p:nvPr/>
          </p:nvSpPr>
          <p:spPr bwMode="auto">
            <a:xfrm>
              <a:off x="30671" y="22654"/>
              <a:ext cx="21140" cy="3301"/>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dirty="0">
                  <a:solidFill>
                    <a:srgbClr val="000000"/>
                  </a:solidFill>
                  <a:effectLst/>
                  <a:latin typeface="Times New Roman" panose="02020603050405020304" pitchFamily="18" charset="0"/>
                  <a:ea typeface="Calibri" panose="020F0502020204030204" pitchFamily="34" charset="0"/>
                </a:rPr>
                <a:t>Convolutional Layers</a:t>
              </a:r>
              <a:endParaRPr lang="en-IN" sz="1400" kern="100" dirty="0">
                <a:solidFill>
                  <a:srgbClr val="000000"/>
                </a:solidFill>
                <a:effectLst/>
                <a:latin typeface="Times New Roman" panose="02020603050405020304" pitchFamily="18" charset="0"/>
                <a:ea typeface="Times New Roman" panose="02020603050405020304" pitchFamily="18" charset="0"/>
              </a:endParaRPr>
            </a:p>
          </p:txBody>
        </p:sp>
        <p:sp>
          <p:nvSpPr>
            <p:cNvPr id="48" name="Rectangle 47">
              <a:extLst>
                <a:ext uri="{FF2B5EF4-FFF2-40B4-BE49-F238E27FC236}">
                  <a16:creationId xmlns:a16="http://schemas.microsoft.com/office/drawing/2014/main" id="{6D6095E2-DD81-484E-A640-5039BA6E66AA}"/>
                </a:ext>
              </a:extLst>
            </p:cNvPr>
            <p:cNvSpPr>
              <a:spLocks noChangeArrowheads="1"/>
            </p:cNvSpPr>
            <p:nvPr/>
          </p:nvSpPr>
          <p:spPr bwMode="auto">
            <a:xfrm>
              <a:off x="30697" y="28520"/>
              <a:ext cx="21140" cy="3302"/>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a:solidFill>
                    <a:srgbClr val="000000"/>
                  </a:solidFill>
                  <a:effectLst/>
                  <a:latin typeface="Times New Roman" panose="02020603050405020304" pitchFamily="18" charset="0"/>
                  <a:ea typeface="Calibri" panose="020F0502020204030204" pitchFamily="34" charset="0"/>
                </a:rPr>
                <a:t>Pooling Layers</a:t>
              </a:r>
              <a:endParaRPr lang="en-IN" sz="1400" kern="100">
                <a:solidFill>
                  <a:srgbClr val="000000"/>
                </a:solidFill>
                <a:effectLst/>
                <a:latin typeface="Times New Roman" panose="02020603050405020304" pitchFamily="18" charset="0"/>
                <a:ea typeface="Times New Roman" panose="02020603050405020304" pitchFamily="18" charset="0"/>
              </a:endParaRPr>
            </a:p>
          </p:txBody>
        </p:sp>
        <p:sp>
          <p:nvSpPr>
            <p:cNvPr id="49" name="Rectangle 48">
              <a:extLst>
                <a:ext uri="{FF2B5EF4-FFF2-40B4-BE49-F238E27FC236}">
                  <a16:creationId xmlns:a16="http://schemas.microsoft.com/office/drawing/2014/main" id="{9FC6A479-B66E-419D-9EF7-CF9A4440AEAC}"/>
                </a:ext>
              </a:extLst>
            </p:cNvPr>
            <p:cNvSpPr>
              <a:spLocks noChangeArrowheads="1"/>
            </p:cNvSpPr>
            <p:nvPr/>
          </p:nvSpPr>
          <p:spPr bwMode="auto">
            <a:xfrm>
              <a:off x="30668" y="35430"/>
              <a:ext cx="21140" cy="3301"/>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endParaRPr lang="en-IN" sz="1200" kern="1200" dirty="0">
                <a:solidFill>
                  <a:srgbClr val="000000"/>
                </a:solidFill>
                <a:effectLst/>
                <a:latin typeface="Times New Roman" panose="02020603050405020304" pitchFamily="18" charset="0"/>
                <a:ea typeface="Calibri" panose="020F0502020204030204" pitchFamily="34" charset="0"/>
              </a:endParaRPr>
            </a:p>
            <a:p>
              <a:pPr marL="6350" marR="207645" indent="-6350" algn="ctr">
                <a:lnSpc>
                  <a:spcPct val="163000"/>
                </a:lnSpc>
                <a:spcAft>
                  <a:spcPts val="0"/>
                </a:spcAft>
              </a:pPr>
              <a:r>
                <a:rPr lang="en-IN" sz="1200" kern="1200" dirty="0">
                  <a:solidFill>
                    <a:srgbClr val="000000"/>
                  </a:solidFill>
                  <a:effectLst/>
                  <a:latin typeface="Times New Roman" panose="02020603050405020304" pitchFamily="18" charset="0"/>
                  <a:ea typeface="Calibri" panose="020F0502020204030204" pitchFamily="34" charset="0"/>
                </a:rPr>
                <a:t>Flatten Layers</a:t>
              </a:r>
              <a:endParaRPr lang="en-IN" sz="1400" kern="100" dirty="0">
                <a:solidFill>
                  <a:srgbClr val="000000"/>
                </a:solidFill>
                <a:effectLst/>
                <a:latin typeface="Times New Roman" panose="02020603050405020304" pitchFamily="18" charset="0"/>
                <a:ea typeface="Times New Roman" panose="02020603050405020304" pitchFamily="18" charset="0"/>
              </a:endParaRPr>
            </a:p>
            <a:p>
              <a:pPr marL="6350" marR="207645" indent="-6350" algn="ctr">
                <a:lnSpc>
                  <a:spcPct val="163000"/>
                </a:lnSpc>
                <a:spcAft>
                  <a:spcPts val="0"/>
                </a:spcAft>
              </a:pPr>
              <a:r>
                <a:rPr lang="en-IN" sz="1200" kern="1200" dirty="0">
                  <a:solidFill>
                    <a:srgbClr val="000000"/>
                  </a:solidFill>
                  <a:effectLst/>
                  <a:latin typeface="Times New Roman" panose="02020603050405020304" pitchFamily="18" charset="0"/>
                  <a:ea typeface="Calibri" panose="020F0502020204030204" pitchFamily="34" charset="0"/>
                </a:rPr>
                <a:t> </a:t>
              </a:r>
              <a:endParaRPr lang="en-IN" sz="1400" kern="100" dirty="0">
                <a:solidFill>
                  <a:srgbClr val="000000"/>
                </a:solidFill>
                <a:effectLst/>
                <a:latin typeface="Times New Roman" panose="02020603050405020304" pitchFamily="18" charset="0"/>
                <a:ea typeface="Times New Roman" panose="02020603050405020304" pitchFamily="18" charset="0"/>
              </a:endParaRPr>
            </a:p>
          </p:txBody>
        </p:sp>
        <p:sp>
          <p:nvSpPr>
            <p:cNvPr id="50" name="Rectangle 49">
              <a:extLst>
                <a:ext uri="{FF2B5EF4-FFF2-40B4-BE49-F238E27FC236}">
                  <a16:creationId xmlns:a16="http://schemas.microsoft.com/office/drawing/2014/main" id="{09DBBE69-0480-40E1-9816-B2CD4FD5828D}"/>
                </a:ext>
              </a:extLst>
            </p:cNvPr>
            <p:cNvSpPr>
              <a:spLocks noChangeArrowheads="1"/>
            </p:cNvSpPr>
            <p:nvPr/>
          </p:nvSpPr>
          <p:spPr bwMode="auto">
            <a:xfrm>
              <a:off x="30698" y="55469"/>
              <a:ext cx="21139" cy="3295"/>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a:solidFill>
                    <a:srgbClr val="000000"/>
                  </a:solidFill>
                  <a:effectLst/>
                  <a:latin typeface="Times New Roman" panose="02020603050405020304" pitchFamily="18" charset="0"/>
                  <a:ea typeface="Calibri" panose="020F0502020204030204" pitchFamily="34" charset="0"/>
                </a:rPr>
                <a:t>Training</a:t>
              </a:r>
              <a:endParaRPr lang="en-IN" sz="1400" kern="100">
                <a:solidFill>
                  <a:srgbClr val="000000"/>
                </a:solidFill>
                <a:effectLst/>
                <a:latin typeface="Times New Roman" panose="02020603050405020304" pitchFamily="18" charset="0"/>
                <a:ea typeface="Times New Roman" panose="02020603050405020304" pitchFamily="18" charset="0"/>
              </a:endParaRPr>
            </a:p>
          </p:txBody>
        </p:sp>
        <p:sp>
          <p:nvSpPr>
            <p:cNvPr id="51" name="Rectangle 50">
              <a:extLst>
                <a:ext uri="{FF2B5EF4-FFF2-40B4-BE49-F238E27FC236}">
                  <a16:creationId xmlns:a16="http://schemas.microsoft.com/office/drawing/2014/main" id="{2CC47049-1D99-45F9-BBB8-8CB420D0678B}"/>
                </a:ext>
              </a:extLst>
            </p:cNvPr>
            <p:cNvSpPr>
              <a:spLocks noChangeArrowheads="1"/>
            </p:cNvSpPr>
            <p:nvPr/>
          </p:nvSpPr>
          <p:spPr bwMode="auto">
            <a:xfrm>
              <a:off x="2156" y="51579"/>
              <a:ext cx="21139" cy="3295"/>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a:solidFill>
                    <a:srgbClr val="000000"/>
                  </a:solidFill>
                  <a:effectLst/>
                  <a:latin typeface="Times New Roman" panose="02020603050405020304" pitchFamily="18" charset="0"/>
                  <a:ea typeface="Calibri" panose="020F0502020204030204" pitchFamily="34" charset="0"/>
                </a:rPr>
                <a:t>Historical Yield</a:t>
              </a:r>
              <a:endParaRPr lang="en-IN" sz="1400" kern="100">
                <a:solidFill>
                  <a:srgbClr val="000000"/>
                </a:solidFill>
                <a:effectLst/>
                <a:latin typeface="Times New Roman" panose="02020603050405020304" pitchFamily="18" charset="0"/>
                <a:ea typeface="Times New Roman" panose="02020603050405020304" pitchFamily="18" charset="0"/>
              </a:endParaRPr>
            </a:p>
          </p:txBody>
        </p:sp>
        <p:sp>
          <p:nvSpPr>
            <p:cNvPr id="52" name="Rectangle 51">
              <a:extLst>
                <a:ext uri="{FF2B5EF4-FFF2-40B4-BE49-F238E27FC236}">
                  <a16:creationId xmlns:a16="http://schemas.microsoft.com/office/drawing/2014/main" id="{23FDAF24-F90E-45A2-B2CF-7D3D5B364DFE}"/>
                </a:ext>
              </a:extLst>
            </p:cNvPr>
            <p:cNvSpPr>
              <a:spLocks noChangeArrowheads="1"/>
            </p:cNvSpPr>
            <p:nvPr/>
          </p:nvSpPr>
          <p:spPr bwMode="auto">
            <a:xfrm>
              <a:off x="2156" y="60228"/>
              <a:ext cx="21139" cy="3296"/>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a:solidFill>
                    <a:srgbClr val="000000"/>
                  </a:solidFill>
                  <a:effectLst/>
                  <a:latin typeface="Times New Roman" panose="02020603050405020304" pitchFamily="18" charset="0"/>
                  <a:ea typeface="Calibri" panose="020F0502020204030204" pitchFamily="34" charset="0"/>
                </a:rPr>
                <a:t>Labelled Dataset</a:t>
              </a:r>
              <a:endParaRPr lang="en-IN" sz="1400" kern="100">
                <a:solidFill>
                  <a:srgbClr val="000000"/>
                </a:solidFill>
                <a:effectLst/>
                <a:latin typeface="Times New Roman" panose="02020603050405020304" pitchFamily="18" charset="0"/>
                <a:ea typeface="Times New Roman" panose="02020603050405020304" pitchFamily="18" charset="0"/>
              </a:endParaRPr>
            </a:p>
          </p:txBody>
        </p:sp>
        <p:cxnSp>
          <p:nvCxnSpPr>
            <p:cNvPr id="53" name="Connector: Elbow 52">
              <a:extLst>
                <a:ext uri="{FF2B5EF4-FFF2-40B4-BE49-F238E27FC236}">
                  <a16:creationId xmlns:a16="http://schemas.microsoft.com/office/drawing/2014/main" id="{D49A1A8A-D141-48E0-A8EF-6BC0BA9DA1DB}"/>
                </a:ext>
              </a:extLst>
            </p:cNvPr>
            <p:cNvCxnSpPr>
              <a:cxnSpLocks/>
              <a:stCxn id="50" idx="3"/>
              <a:endCxn id="47" idx="3"/>
            </p:cNvCxnSpPr>
            <p:nvPr/>
          </p:nvCxnSpPr>
          <p:spPr bwMode="auto">
            <a:xfrm flipH="1" flipV="1">
              <a:off x="51811" y="24304"/>
              <a:ext cx="26" cy="32812"/>
            </a:xfrm>
            <a:prstGeom prst="bentConnector3">
              <a:avLst>
                <a:gd name="adj1" fmla="val -8891482"/>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sp>
          <p:nvSpPr>
            <p:cNvPr id="55" name="Rectangle 54">
              <a:extLst>
                <a:ext uri="{FF2B5EF4-FFF2-40B4-BE49-F238E27FC236}">
                  <a16:creationId xmlns:a16="http://schemas.microsoft.com/office/drawing/2014/main" id="{6DA27FCC-B518-4C84-BE7B-101A5E92F57D}"/>
                </a:ext>
              </a:extLst>
            </p:cNvPr>
            <p:cNvSpPr>
              <a:spLocks noChangeArrowheads="1"/>
            </p:cNvSpPr>
            <p:nvPr/>
          </p:nvSpPr>
          <p:spPr bwMode="auto">
            <a:xfrm>
              <a:off x="30697" y="61859"/>
              <a:ext cx="21139" cy="3296"/>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a:solidFill>
                    <a:srgbClr val="000000"/>
                  </a:solidFill>
                  <a:effectLst/>
                  <a:latin typeface="Times New Roman" panose="02020603050405020304" pitchFamily="18" charset="0"/>
                  <a:ea typeface="Calibri" panose="020F0502020204030204" pitchFamily="34" charset="0"/>
                </a:rPr>
                <a:t>Crop Selection</a:t>
              </a:r>
              <a:endParaRPr lang="en-IN" sz="1400" kern="100">
                <a:solidFill>
                  <a:srgbClr val="000000"/>
                </a:solidFill>
                <a:effectLst/>
                <a:latin typeface="Times New Roman" panose="02020603050405020304" pitchFamily="18" charset="0"/>
                <a:ea typeface="Times New Roman" panose="02020603050405020304" pitchFamily="18" charset="0"/>
              </a:endParaRPr>
            </a:p>
          </p:txBody>
        </p:sp>
        <p:sp>
          <p:nvSpPr>
            <p:cNvPr id="56" name="Rectangle 55">
              <a:extLst>
                <a:ext uri="{FF2B5EF4-FFF2-40B4-BE49-F238E27FC236}">
                  <a16:creationId xmlns:a16="http://schemas.microsoft.com/office/drawing/2014/main" id="{F7B54024-4613-41D6-BB6F-403D078C79FB}"/>
                </a:ext>
              </a:extLst>
            </p:cNvPr>
            <p:cNvSpPr>
              <a:spLocks noChangeArrowheads="1"/>
            </p:cNvSpPr>
            <p:nvPr/>
          </p:nvSpPr>
          <p:spPr bwMode="auto">
            <a:xfrm>
              <a:off x="30698" y="68249"/>
              <a:ext cx="21139" cy="3295"/>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dirty="0">
                  <a:solidFill>
                    <a:srgbClr val="000000"/>
                  </a:solidFill>
                  <a:effectLst/>
                  <a:latin typeface="Times New Roman" panose="02020603050405020304" pitchFamily="18" charset="0"/>
                  <a:ea typeface="Calibri" panose="020F0502020204030204" pitchFamily="34" charset="0"/>
                </a:rPr>
                <a:t>Yield Prediction</a:t>
              </a:r>
              <a:endParaRPr lang="en-IN" sz="1400" kern="100" dirty="0">
                <a:solidFill>
                  <a:srgbClr val="000000"/>
                </a:solidFill>
                <a:effectLst/>
                <a:latin typeface="Times New Roman" panose="02020603050405020304" pitchFamily="18" charset="0"/>
                <a:ea typeface="Times New Roman" panose="02020603050405020304" pitchFamily="18" charset="0"/>
              </a:endParaRPr>
            </a:p>
          </p:txBody>
        </p:sp>
        <p:sp>
          <p:nvSpPr>
            <p:cNvPr id="57" name="Rectangle 56">
              <a:extLst>
                <a:ext uri="{FF2B5EF4-FFF2-40B4-BE49-F238E27FC236}">
                  <a16:creationId xmlns:a16="http://schemas.microsoft.com/office/drawing/2014/main" id="{C3BBE7B7-C33D-450F-91E1-65FF7A13B41E}"/>
                </a:ext>
              </a:extLst>
            </p:cNvPr>
            <p:cNvSpPr>
              <a:spLocks noChangeArrowheads="1"/>
            </p:cNvSpPr>
            <p:nvPr/>
          </p:nvSpPr>
          <p:spPr bwMode="auto">
            <a:xfrm>
              <a:off x="30669" y="74624"/>
              <a:ext cx="21139" cy="3296"/>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dirty="0">
                  <a:solidFill>
                    <a:srgbClr val="000000"/>
                  </a:solidFill>
                  <a:effectLst/>
                  <a:latin typeface="Times New Roman" panose="02020603050405020304" pitchFamily="18" charset="0"/>
                  <a:ea typeface="Calibri" panose="020F0502020204030204" pitchFamily="34" charset="0"/>
                </a:rPr>
                <a:t>Fertilizer Recommendation</a:t>
              </a:r>
              <a:endParaRPr lang="en-IN" sz="1400" kern="100" dirty="0">
                <a:solidFill>
                  <a:srgbClr val="000000"/>
                </a:solidFill>
                <a:effectLst/>
                <a:latin typeface="Times New Roman" panose="02020603050405020304" pitchFamily="18" charset="0"/>
                <a:ea typeface="Times New Roman" panose="02020603050405020304" pitchFamily="18" charset="0"/>
              </a:endParaRPr>
            </a:p>
          </p:txBody>
        </p:sp>
        <p:cxnSp>
          <p:nvCxnSpPr>
            <p:cNvPr id="58" name="Straight Arrow Connector 57">
              <a:extLst>
                <a:ext uri="{FF2B5EF4-FFF2-40B4-BE49-F238E27FC236}">
                  <a16:creationId xmlns:a16="http://schemas.microsoft.com/office/drawing/2014/main" id="{4A091E19-9A70-4660-97FF-E8CBDC29C49D}"/>
                </a:ext>
              </a:extLst>
            </p:cNvPr>
            <p:cNvCxnSpPr>
              <a:cxnSpLocks/>
            </p:cNvCxnSpPr>
            <p:nvPr/>
          </p:nvCxnSpPr>
          <p:spPr bwMode="auto">
            <a:xfrm>
              <a:off x="41256" y="3265"/>
              <a:ext cx="0" cy="3093"/>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59" name="Straight Arrow Connector 58">
              <a:extLst>
                <a:ext uri="{FF2B5EF4-FFF2-40B4-BE49-F238E27FC236}">
                  <a16:creationId xmlns:a16="http://schemas.microsoft.com/office/drawing/2014/main" id="{C038D5B3-E53D-4E8B-A50E-C705622EA1D2}"/>
                </a:ext>
              </a:extLst>
            </p:cNvPr>
            <p:cNvCxnSpPr>
              <a:cxnSpLocks noChangeShapeType="1"/>
            </p:cNvCxnSpPr>
            <p:nvPr/>
          </p:nvCxnSpPr>
          <p:spPr bwMode="auto">
            <a:xfrm>
              <a:off x="41256" y="9688"/>
              <a:ext cx="0" cy="3092"/>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60" name="Straight Arrow Connector 59">
              <a:extLst>
                <a:ext uri="{FF2B5EF4-FFF2-40B4-BE49-F238E27FC236}">
                  <a16:creationId xmlns:a16="http://schemas.microsoft.com/office/drawing/2014/main" id="{A0C40004-DC30-4767-94EB-9A208F5770EE}"/>
                </a:ext>
              </a:extLst>
            </p:cNvPr>
            <p:cNvCxnSpPr>
              <a:cxnSpLocks/>
            </p:cNvCxnSpPr>
            <p:nvPr/>
          </p:nvCxnSpPr>
          <p:spPr bwMode="auto">
            <a:xfrm>
              <a:off x="41256" y="16110"/>
              <a:ext cx="0" cy="2937"/>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61" name="Straight Arrow Connector 60">
              <a:extLst>
                <a:ext uri="{FF2B5EF4-FFF2-40B4-BE49-F238E27FC236}">
                  <a16:creationId xmlns:a16="http://schemas.microsoft.com/office/drawing/2014/main" id="{EB6A5D52-8A0F-4168-B2D1-3C0188FC8F73}"/>
                </a:ext>
              </a:extLst>
            </p:cNvPr>
            <p:cNvCxnSpPr>
              <a:cxnSpLocks noChangeShapeType="1"/>
            </p:cNvCxnSpPr>
            <p:nvPr/>
          </p:nvCxnSpPr>
          <p:spPr bwMode="auto">
            <a:xfrm>
              <a:off x="41256" y="25472"/>
              <a:ext cx="0" cy="3093"/>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62" name="Straight Arrow Connector 61">
              <a:extLst>
                <a:ext uri="{FF2B5EF4-FFF2-40B4-BE49-F238E27FC236}">
                  <a16:creationId xmlns:a16="http://schemas.microsoft.com/office/drawing/2014/main" id="{7C57ECC7-66CB-4311-AE3F-E6FA55FF7059}"/>
                </a:ext>
              </a:extLst>
            </p:cNvPr>
            <p:cNvCxnSpPr>
              <a:cxnSpLocks noChangeShapeType="1"/>
            </p:cNvCxnSpPr>
            <p:nvPr/>
          </p:nvCxnSpPr>
          <p:spPr bwMode="auto">
            <a:xfrm>
              <a:off x="40913" y="32338"/>
              <a:ext cx="0" cy="3092"/>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63" name="Straight Arrow Connector 62">
              <a:extLst>
                <a:ext uri="{FF2B5EF4-FFF2-40B4-BE49-F238E27FC236}">
                  <a16:creationId xmlns:a16="http://schemas.microsoft.com/office/drawing/2014/main" id="{05657659-DAA2-4F1E-98F3-F2E50D949CD3}"/>
                </a:ext>
              </a:extLst>
            </p:cNvPr>
            <p:cNvCxnSpPr>
              <a:cxnSpLocks noChangeShapeType="1"/>
            </p:cNvCxnSpPr>
            <p:nvPr/>
          </p:nvCxnSpPr>
          <p:spPr bwMode="auto">
            <a:xfrm>
              <a:off x="41016" y="45230"/>
              <a:ext cx="0" cy="3713"/>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64" name="Straight Arrow Connector 63">
              <a:extLst>
                <a:ext uri="{FF2B5EF4-FFF2-40B4-BE49-F238E27FC236}">
                  <a16:creationId xmlns:a16="http://schemas.microsoft.com/office/drawing/2014/main" id="{02CE062D-7223-4D7F-A0A2-6C319B487361}"/>
                </a:ext>
              </a:extLst>
            </p:cNvPr>
            <p:cNvCxnSpPr>
              <a:cxnSpLocks noChangeShapeType="1"/>
            </p:cNvCxnSpPr>
            <p:nvPr/>
          </p:nvCxnSpPr>
          <p:spPr bwMode="auto">
            <a:xfrm>
              <a:off x="41137" y="58765"/>
              <a:ext cx="0" cy="3093"/>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65" name="Straight Arrow Connector 64">
              <a:extLst>
                <a:ext uri="{FF2B5EF4-FFF2-40B4-BE49-F238E27FC236}">
                  <a16:creationId xmlns:a16="http://schemas.microsoft.com/office/drawing/2014/main" id="{8E5767BA-0248-4B1B-AF69-B5473C671827}"/>
                </a:ext>
              </a:extLst>
            </p:cNvPr>
            <p:cNvCxnSpPr>
              <a:cxnSpLocks noChangeShapeType="1"/>
            </p:cNvCxnSpPr>
            <p:nvPr/>
          </p:nvCxnSpPr>
          <p:spPr bwMode="auto">
            <a:xfrm>
              <a:off x="41017" y="52250"/>
              <a:ext cx="0" cy="3105"/>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66" name="Straight Arrow Connector 65">
              <a:extLst>
                <a:ext uri="{FF2B5EF4-FFF2-40B4-BE49-F238E27FC236}">
                  <a16:creationId xmlns:a16="http://schemas.microsoft.com/office/drawing/2014/main" id="{153BB5C1-589B-4E96-8510-2CCA9F85CA45}"/>
                </a:ext>
              </a:extLst>
            </p:cNvPr>
            <p:cNvCxnSpPr>
              <a:cxnSpLocks noChangeShapeType="1"/>
            </p:cNvCxnSpPr>
            <p:nvPr/>
          </p:nvCxnSpPr>
          <p:spPr bwMode="auto">
            <a:xfrm>
              <a:off x="41137" y="71544"/>
              <a:ext cx="0" cy="3079"/>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67" name="Connector: Elbow 66">
              <a:extLst>
                <a:ext uri="{FF2B5EF4-FFF2-40B4-BE49-F238E27FC236}">
                  <a16:creationId xmlns:a16="http://schemas.microsoft.com/office/drawing/2014/main" id="{C087B090-27C0-45BD-A46F-72A7D9955727}"/>
                </a:ext>
              </a:extLst>
            </p:cNvPr>
            <p:cNvCxnSpPr>
              <a:cxnSpLocks noChangeShapeType="1"/>
              <a:stCxn id="51" idx="3"/>
              <a:endCxn id="50" idx="1"/>
            </p:cNvCxnSpPr>
            <p:nvPr/>
          </p:nvCxnSpPr>
          <p:spPr bwMode="auto">
            <a:xfrm>
              <a:off x="23295" y="53227"/>
              <a:ext cx="7403" cy="3890"/>
            </a:xfrm>
            <a:prstGeom prst="bentConnector3">
              <a:avLst>
                <a:gd name="adj1" fmla="val 50000"/>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cxnSp>
          <p:nvCxnSpPr>
            <p:cNvPr id="68" name="Connector: Elbow 67">
              <a:extLst>
                <a:ext uri="{FF2B5EF4-FFF2-40B4-BE49-F238E27FC236}">
                  <a16:creationId xmlns:a16="http://schemas.microsoft.com/office/drawing/2014/main" id="{C3F64AD2-B7A6-449B-BD0D-175A2D8470EF}"/>
                </a:ext>
              </a:extLst>
            </p:cNvPr>
            <p:cNvCxnSpPr>
              <a:cxnSpLocks noChangeShapeType="1"/>
              <a:stCxn id="52" idx="3"/>
              <a:endCxn id="50" idx="1"/>
            </p:cNvCxnSpPr>
            <p:nvPr/>
          </p:nvCxnSpPr>
          <p:spPr bwMode="auto">
            <a:xfrm flipV="1">
              <a:off x="23295" y="57116"/>
              <a:ext cx="7403" cy="4760"/>
            </a:xfrm>
            <a:prstGeom prst="bentConnector3">
              <a:avLst>
                <a:gd name="adj1" fmla="val 50000"/>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sp>
          <p:nvSpPr>
            <p:cNvPr id="69" name="Rectangle 68">
              <a:extLst>
                <a:ext uri="{FF2B5EF4-FFF2-40B4-BE49-F238E27FC236}">
                  <a16:creationId xmlns:a16="http://schemas.microsoft.com/office/drawing/2014/main" id="{6F34229D-61D2-4026-BD21-238B490B4805}"/>
                </a:ext>
              </a:extLst>
            </p:cNvPr>
            <p:cNvSpPr>
              <a:spLocks noChangeArrowheads="1"/>
            </p:cNvSpPr>
            <p:nvPr/>
          </p:nvSpPr>
          <p:spPr bwMode="auto">
            <a:xfrm>
              <a:off x="30698" y="48948"/>
              <a:ext cx="21140" cy="3302"/>
            </a:xfrm>
            <a:prstGeom prst="rect">
              <a:avLst/>
            </a:prstGeom>
            <a:solidFill>
              <a:schemeClr val="lt1">
                <a:lumMod val="100000"/>
                <a:lumOff val="0"/>
              </a:schemeClr>
            </a:solidFill>
            <a:ln w="12700">
              <a:solidFill>
                <a:schemeClr val="dk1">
                  <a:lumMod val="100000"/>
                  <a:lumOff val="0"/>
                </a:schemeClr>
              </a:solidFill>
              <a:miter lim="800000"/>
              <a:headEnd/>
              <a:tailEnd/>
            </a:ln>
          </p:spPr>
          <p:txBody>
            <a:bodyPr rot="0" vert="horz" wrap="square" lIns="91440" tIns="45720" rIns="91440" bIns="45720" anchor="ctr" anchorCtr="0" upright="1">
              <a:noAutofit/>
            </a:bodyPr>
            <a:lstStyle/>
            <a:p>
              <a:pPr marL="6350" marR="207645" indent="-6350" algn="ctr">
                <a:lnSpc>
                  <a:spcPct val="163000"/>
                </a:lnSpc>
                <a:spcAft>
                  <a:spcPts val="0"/>
                </a:spcAft>
              </a:pPr>
              <a:r>
                <a:rPr lang="en-IN" sz="1200" kern="1200" dirty="0">
                  <a:solidFill>
                    <a:srgbClr val="000000"/>
                  </a:solidFill>
                  <a:effectLst/>
                  <a:latin typeface="Times New Roman" panose="02020603050405020304" pitchFamily="18" charset="0"/>
                  <a:ea typeface="Calibri" panose="020F0502020204030204" pitchFamily="34" charset="0"/>
                </a:rPr>
                <a:t>LSTM Model</a:t>
              </a:r>
              <a:endParaRPr lang="en-IN" sz="1400" kern="100" dirty="0">
                <a:solidFill>
                  <a:srgbClr val="000000"/>
                </a:solidFill>
                <a:effectLst/>
                <a:latin typeface="Times New Roman" panose="02020603050405020304" pitchFamily="18" charset="0"/>
                <a:ea typeface="Times New Roman" panose="02020603050405020304" pitchFamily="18" charset="0"/>
              </a:endParaRPr>
            </a:p>
          </p:txBody>
        </p:sp>
        <p:cxnSp>
          <p:nvCxnSpPr>
            <p:cNvPr id="70" name="Straight Arrow Connector 69">
              <a:extLst>
                <a:ext uri="{FF2B5EF4-FFF2-40B4-BE49-F238E27FC236}">
                  <a16:creationId xmlns:a16="http://schemas.microsoft.com/office/drawing/2014/main" id="{87840487-AFC1-469A-A110-341CEB91A901}"/>
                </a:ext>
              </a:extLst>
            </p:cNvPr>
            <p:cNvCxnSpPr>
              <a:cxnSpLocks noChangeShapeType="1"/>
            </p:cNvCxnSpPr>
            <p:nvPr/>
          </p:nvCxnSpPr>
          <p:spPr bwMode="auto">
            <a:xfrm>
              <a:off x="41137" y="65156"/>
              <a:ext cx="0" cy="3092"/>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grpSp>
      <p:cxnSp>
        <p:nvCxnSpPr>
          <p:cNvPr id="71" name="Straight Arrow Connector 70">
            <a:extLst>
              <a:ext uri="{FF2B5EF4-FFF2-40B4-BE49-F238E27FC236}">
                <a16:creationId xmlns:a16="http://schemas.microsoft.com/office/drawing/2014/main" id="{C6540D61-DD9B-4124-9943-466F54138659}"/>
              </a:ext>
            </a:extLst>
          </p:cNvPr>
          <p:cNvCxnSpPr>
            <a:cxnSpLocks noChangeShapeType="1"/>
          </p:cNvCxnSpPr>
          <p:nvPr/>
        </p:nvCxnSpPr>
        <p:spPr bwMode="auto">
          <a:xfrm>
            <a:off x="9863693" y="3115481"/>
            <a:ext cx="0" cy="250825"/>
          </a:xfrm>
          <a:prstGeom prst="straightConnector1">
            <a:avLst/>
          </a:prstGeom>
          <a:noFill/>
          <a:ln w="6350">
            <a:solidFill>
              <a:schemeClr val="dk1">
                <a:lumMod val="100000"/>
                <a:lumOff val="0"/>
              </a:schemeClr>
            </a:solidFill>
            <a:miter lim="800000"/>
            <a:headEnd/>
            <a:tailEnd type="triangle" w="med" len="med"/>
          </a:ln>
          <a:extLst>
            <a:ext uri="{909E8E84-426E-40DD-AFC4-6F175D3DCCD1}">
              <a14:hiddenFill xmlns:a14="http://schemas.microsoft.com/office/drawing/2010/main">
                <a:noFill/>
              </a14:hiddenFill>
            </a:ext>
          </a:extLst>
        </p:spPr>
      </p:cxnSp>
      <p:sp>
        <p:nvSpPr>
          <p:cNvPr id="39" name="Text Box 103">
            <a:extLst>
              <a:ext uri="{FF2B5EF4-FFF2-40B4-BE49-F238E27FC236}">
                <a16:creationId xmlns:a16="http://schemas.microsoft.com/office/drawing/2014/main" id="{8516DEA7-DD1C-400C-BDF1-7BAC441D1427}"/>
              </a:ext>
            </a:extLst>
          </p:cNvPr>
          <p:cNvSpPr txBox="1">
            <a:spLocks noChangeArrowheads="1"/>
          </p:cNvSpPr>
          <p:nvPr/>
        </p:nvSpPr>
        <p:spPr bwMode="auto">
          <a:xfrm>
            <a:off x="8855381" y="3366925"/>
            <a:ext cx="2109788" cy="29845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altLang="en-US" sz="12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Fully Connected</a:t>
            </a:r>
            <a:r>
              <a:rPr kumimoji="0" lang="en-US" altLang="en-US" sz="1400" b="0" i="0" u="none" strike="noStrike" cap="none" normalizeH="0" baseline="0" dirty="0">
                <a:ln>
                  <a:noFill/>
                </a:ln>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Layers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3" name="Rectangle 86">
            <a:extLst>
              <a:ext uri="{FF2B5EF4-FFF2-40B4-BE49-F238E27FC236}">
                <a16:creationId xmlns:a16="http://schemas.microsoft.com/office/drawing/2014/main" id="{E776A8E0-8A54-4AF2-86D4-DA9F15B5294B}"/>
              </a:ext>
            </a:extLst>
          </p:cNvPr>
          <p:cNvSpPr>
            <a:spLocks noChangeArrowheads="1"/>
          </p:cNvSpPr>
          <p:nvPr/>
        </p:nvSpPr>
        <p:spPr bwMode="auto">
          <a:xfrm>
            <a:off x="5831633" y="564149"/>
            <a:ext cx="541521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a:ln>
                <a:noFill/>
              </a:ln>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a:ln>
                  <a:noFill/>
                </a:ln>
                <a:solidFill>
                  <a:srgbClr val="000000"/>
                </a:solidFill>
                <a:effectLst/>
                <a:latin typeface="Calibri Light" panose="020F03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4" name="Rectangle 102">
            <a:extLst>
              <a:ext uri="{FF2B5EF4-FFF2-40B4-BE49-F238E27FC236}">
                <a16:creationId xmlns:a16="http://schemas.microsoft.com/office/drawing/2014/main" id="{1DD3F19D-5323-4377-A039-E5E64DE27027}"/>
              </a:ext>
            </a:extLst>
          </p:cNvPr>
          <p:cNvSpPr>
            <a:spLocks noChangeArrowheads="1"/>
          </p:cNvSpPr>
          <p:nvPr/>
        </p:nvSpPr>
        <p:spPr bwMode="auto">
          <a:xfrm>
            <a:off x="5831633" y="715670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a:ln>
                <a:noFill/>
              </a:ln>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65838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88738A-C44C-6C9D-84ED-4F0DF34728B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C0EA807B-51D6-8024-D26D-EB9541388C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4010D41A-69E8-EBDA-FB75-896B0C6043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4AF711-AB92-E4FB-6AB3-9717D057A6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EBF8FB8-693F-051E-EE04-200C26125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0A75D5C-1203-308A-C5F5-76E7B413CA00}"/>
              </a:ext>
            </a:extLst>
          </p:cNvPr>
          <p:cNvSpPr>
            <a:spLocks noGrp="1"/>
          </p:cNvSpPr>
          <p:nvPr>
            <p:ph type="title"/>
          </p:nvPr>
        </p:nvSpPr>
        <p:spPr>
          <a:xfrm>
            <a:off x="876691" y="301843"/>
            <a:ext cx="10477109" cy="1003532"/>
          </a:xfrm>
        </p:spPr>
        <p:txBody>
          <a:bodyPr anchor="ctr">
            <a:normAutofit/>
          </a:bodyPr>
          <a:lstStyle/>
          <a:p>
            <a:r>
              <a:rPr lang="en-IN" sz="3200" b="1" dirty="0">
                <a:solidFill>
                  <a:srgbClr val="FFFFFF"/>
                </a:solidFill>
                <a:latin typeface="Times New Roman" panose="02020603050405020304" pitchFamily="18" charset="0"/>
                <a:cs typeface="Times New Roman" panose="02020603050405020304" pitchFamily="18" charset="0"/>
              </a:rPr>
              <a:t>Technique/Algorithm </a:t>
            </a:r>
          </a:p>
        </p:txBody>
      </p:sp>
      <p:sp>
        <p:nvSpPr>
          <p:cNvPr id="3" name="Content Placeholder 2">
            <a:extLst>
              <a:ext uri="{FF2B5EF4-FFF2-40B4-BE49-F238E27FC236}">
                <a16:creationId xmlns:a16="http://schemas.microsoft.com/office/drawing/2014/main" id="{C7366BF1-6C2B-B1EA-0FAC-77447E82A8B8}"/>
              </a:ext>
            </a:extLst>
          </p:cNvPr>
          <p:cNvSpPr>
            <a:spLocks noGrp="1"/>
          </p:cNvSpPr>
          <p:nvPr>
            <p:ph idx="1"/>
          </p:nvPr>
        </p:nvSpPr>
        <p:spPr>
          <a:xfrm>
            <a:off x="876691" y="1808965"/>
            <a:ext cx="9214366" cy="4485999"/>
          </a:xfrm>
        </p:spPr>
        <p:txBody>
          <a:bodyPr>
            <a:normAutofit/>
          </a:bodyPr>
          <a:lstStyle/>
          <a:p>
            <a:pPr>
              <a:buNone/>
            </a:pPr>
            <a:r>
              <a:rPr lang="en-US" sz="1600" dirty="0">
                <a:latin typeface="Times New Roman" panose="02020603050405020304" pitchFamily="18" charset="0"/>
                <a:cs typeface="Times New Roman" panose="02020603050405020304" pitchFamily="18" charset="0"/>
              </a:rPr>
              <a:t>1. Convolutional Neural Networks (CNNs)</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Used for image-based disease detection in crops.</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Can analyze leaf images to identify diseases like fungal infections or nutrient deficiencies.</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Enhances precision in pest detection using drone or camera-captured images.</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Eliminates manual feature extraction, improving accuracy.</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a:buNone/>
            </a:pPr>
            <a:r>
              <a:rPr lang="en-US" sz="1600" dirty="0">
                <a:latin typeface="Times New Roman" panose="02020603050405020304" pitchFamily="18" charset="0"/>
                <a:cs typeface="Times New Roman" panose="02020603050405020304" pitchFamily="18" charset="0"/>
              </a:rPr>
              <a:t>2. Long Short-Term Memory (LSTM)</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Applied for time-series analysis of sensor data (e.g., temperature, humidity, soil moisture).</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Predicts future weather conditions and irrigation needs based on historical trends.</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Helps detect potential risks of crop failure by analyzing multi-seasonal patterns.</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Supports real-time decision-making by continuously updating forecasts.</a:t>
            </a:r>
          </a:p>
          <a:p>
            <a:pPr marL="0" indent="0">
              <a:buNone/>
            </a:pPr>
            <a:endParaRPr lang="en-IN" sz="1300" dirty="0"/>
          </a:p>
        </p:txBody>
      </p:sp>
    </p:spTree>
    <p:extLst>
      <p:ext uri="{BB962C8B-B14F-4D97-AF65-F5344CB8AC3E}">
        <p14:creationId xmlns:p14="http://schemas.microsoft.com/office/powerpoint/2010/main" val="703341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58F59B-85D2-781D-DE82-2FDBD0693204}"/>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E150A71-47CB-A699-AE5E-F1D83284DF6F}"/>
              </a:ext>
            </a:extLst>
          </p:cNvPr>
          <p:cNvSpPr>
            <a:spLocks noGrp="1"/>
          </p:cNvSpPr>
          <p:nvPr>
            <p:ph type="title"/>
          </p:nvPr>
        </p:nvSpPr>
        <p:spPr>
          <a:xfrm>
            <a:off x="876691" y="301843"/>
            <a:ext cx="10477109" cy="1003532"/>
          </a:xfrm>
        </p:spPr>
        <p:txBody>
          <a:bodyPr anchor="ctr">
            <a:normAutofit/>
          </a:bodyPr>
          <a:lstStyle/>
          <a:p>
            <a:r>
              <a:rPr lang="en-IN" sz="3200" b="1" dirty="0">
                <a:solidFill>
                  <a:srgbClr val="FFFFFF"/>
                </a:solidFill>
                <a:latin typeface="Times New Roman" panose="02020603050405020304" pitchFamily="18" charset="0"/>
                <a:cs typeface="Times New Roman" panose="02020603050405020304" pitchFamily="18" charset="0"/>
              </a:rPr>
              <a:t>Modules </a:t>
            </a:r>
          </a:p>
        </p:txBody>
      </p:sp>
      <p:sp>
        <p:nvSpPr>
          <p:cNvPr id="3" name="Content Placeholder 2">
            <a:extLst>
              <a:ext uri="{FF2B5EF4-FFF2-40B4-BE49-F238E27FC236}">
                <a16:creationId xmlns:a16="http://schemas.microsoft.com/office/drawing/2014/main" id="{30A1E988-5968-1378-BB03-5B54A9CE1F41}"/>
              </a:ext>
            </a:extLst>
          </p:cNvPr>
          <p:cNvSpPr>
            <a:spLocks noGrp="1"/>
          </p:cNvSpPr>
          <p:nvPr>
            <p:ph idx="1"/>
          </p:nvPr>
        </p:nvSpPr>
        <p:spPr>
          <a:xfrm>
            <a:off x="979714" y="1931437"/>
            <a:ext cx="8982822" cy="4050263"/>
          </a:xfrm>
        </p:spPr>
        <p:txBody>
          <a:bodyPr>
            <a:normAutofit/>
          </a:bodyPr>
          <a:lstStyle/>
          <a:p>
            <a:pPr>
              <a:lnSpc>
                <a:spcPct val="150000"/>
              </a:lnSpc>
              <a:buNone/>
            </a:pPr>
            <a:r>
              <a:rPr lang="en-IN" sz="1600" b="1" dirty="0">
                <a:latin typeface="Times New Roman" panose="02020603050405020304" pitchFamily="18" charset="0"/>
                <a:cs typeface="Times New Roman" panose="02020603050405020304" pitchFamily="18" charset="0"/>
              </a:rPr>
              <a:t>Data Collection Module (IoT &amp; Sensors) </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Sensors: Soil moisture, temperature, humidity, light intensity, and pH sensors.</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Drones &amp; Cameras: Capturing crop images for disease and pest detection.</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Weather Data: Integrates real-time weather reports.</a:t>
            </a:r>
            <a:endParaRPr lang="en-IN" sz="1600" b="1" dirty="0">
              <a:latin typeface="Times New Roman" panose="02020603050405020304" pitchFamily="18" charset="0"/>
              <a:cs typeface="Times New Roman" panose="02020603050405020304" pitchFamily="18" charset="0"/>
            </a:endParaRPr>
          </a:p>
          <a:p>
            <a:pPr marL="0" indent="0">
              <a:lnSpc>
                <a:spcPct val="150000"/>
              </a:lnSpc>
              <a:buNone/>
            </a:pPr>
            <a:r>
              <a:rPr lang="en-IN" sz="1600" b="1" dirty="0">
                <a:latin typeface="Times New Roman" panose="02020603050405020304" pitchFamily="18" charset="0"/>
                <a:cs typeface="Times New Roman" panose="02020603050405020304" pitchFamily="18" charset="0"/>
              </a:rPr>
              <a:t>Data Pre-Processing Module</a:t>
            </a:r>
          </a:p>
          <a:p>
            <a:pPr>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Image Processing :Noise Removal ,Segmentation, Augmentation for CNN Model </a:t>
            </a:r>
          </a:p>
          <a:p>
            <a:pPr>
              <a:lnSpc>
                <a:spcPct val="150000"/>
              </a:lnSpc>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Time Series data Processing : Normalization, feature extraction for LSTM Models</a:t>
            </a:r>
          </a:p>
        </p:txBody>
      </p:sp>
    </p:spTree>
    <p:extLst>
      <p:ext uri="{BB962C8B-B14F-4D97-AF65-F5344CB8AC3E}">
        <p14:creationId xmlns:p14="http://schemas.microsoft.com/office/powerpoint/2010/main" val="1344551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7B338D-5A04-2004-2DF2-B7C2B3422A37}"/>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9" name="Rectangle 8">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CFE0F39-938F-6F52-F57D-8BB8B8D33A9D}"/>
              </a:ext>
            </a:extLst>
          </p:cNvPr>
          <p:cNvSpPr>
            <a:spLocks noGrp="1"/>
          </p:cNvSpPr>
          <p:nvPr>
            <p:ph type="title"/>
          </p:nvPr>
        </p:nvSpPr>
        <p:spPr>
          <a:xfrm>
            <a:off x="876691" y="301843"/>
            <a:ext cx="10477109" cy="1003532"/>
          </a:xfrm>
        </p:spPr>
        <p:txBody>
          <a:bodyPr anchor="ctr">
            <a:normAutofit/>
          </a:bodyPr>
          <a:lstStyle/>
          <a:p>
            <a:r>
              <a:rPr lang="en-IN" sz="3200" b="1" dirty="0">
                <a:solidFill>
                  <a:srgbClr val="FFFFFF"/>
                </a:solidFill>
                <a:latin typeface="Times New Roman" panose="02020603050405020304" pitchFamily="18" charset="0"/>
                <a:cs typeface="Times New Roman" panose="02020603050405020304" pitchFamily="18" charset="0"/>
              </a:rPr>
              <a:t>Modules </a:t>
            </a:r>
          </a:p>
        </p:txBody>
      </p:sp>
      <p:sp>
        <p:nvSpPr>
          <p:cNvPr id="3" name="Content Placeholder 2">
            <a:extLst>
              <a:ext uri="{FF2B5EF4-FFF2-40B4-BE49-F238E27FC236}">
                <a16:creationId xmlns:a16="http://schemas.microsoft.com/office/drawing/2014/main" id="{44BB8538-B6F0-9D0A-B6C4-B5BF5A41A609}"/>
              </a:ext>
            </a:extLst>
          </p:cNvPr>
          <p:cNvSpPr>
            <a:spLocks noGrp="1"/>
          </p:cNvSpPr>
          <p:nvPr>
            <p:ph idx="1"/>
          </p:nvPr>
        </p:nvSpPr>
        <p:spPr>
          <a:xfrm>
            <a:off x="543582" y="1651917"/>
            <a:ext cx="8937875" cy="4907521"/>
          </a:xfrm>
        </p:spPr>
        <p:txBody>
          <a:bodyPr>
            <a:normAutofit fontScale="85000" lnSpcReduction="20000"/>
          </a:bodyPr>
          <a:lstStyle/>
          <a:p>
            <a:pPr>
              <a:lnSpc>
                <a:spcPct val="150000"/>
              </a:lnSpc>
              <a:buNone/>
            </a:pPr>
            <a:r>
              <a:rPr lang="en-IN" sz="1600" b="1" dirty="0">
                <a:latin typeface="Times New Roman" panose="02020603050405020304" pitchFamily="18" charset="0"/>
                <a:cs typeface="Times New Roman" panose="02020603050405020304" pitchFamily="18" charset="0"/>
              </a:rPr>
              <a:t>Deep Learning Model Module (CNN &amp; LSTM) </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CNN for Image Analysis: Identifies plant diseases, pests, and crop conditions.</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LSTM for Time-Series Predictions: Forecasts irrigation needs, climate trends, and potential risks.</a:t>
            </a:r>
          </a:p>
          <a:p>
            <a:pPr>
              <a:lnSpc>
                <a:spcPct val="150000"/>
              </a:lnSpc>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Model Training &amp; Optimization: Fine-tuning for high accuracy.</a:t>
            </a:r>
          </a:p>
          <a:p>
            <a:pPr>
              <a:lnSpc>
                <a:spcPct val="150000"/>
              </a:lnSpc>
              <a:buNone/>
            </a:pPr>
            <a:r>
              <a:rPr lang="en-US" sz="1600" b="1" dirty="0">
                <a:latin typeface="Times New Roman" panose="02020603050405020304" pitchFamily="18" charset="0"/>
                <a:cs typeface="Times New Roman" panose="02020603050405020304" pitchFamily="18" charset="0"/>
              </a:rPr>
              <a:t>Decision Support &amp; Alert System </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Automated Recommendations: Crop health reports, fertilizer suggestions, and irrigation plans.</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Real-Time Alerts: Notifies farmers about pest infestations, extreme weather, or crop stress.</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Dashboard &amp; Mobile App Integration: User-friendly interface for farmers.</a:t>
            </a:r>
          </a:p>
          <a:p>
            <a:pPr marL="0" indent="0">
              <a:lnSpc>
                <a:spcPct val="150000"/>
              </a:lnSpc>
              <a:buNone/>
            </a:pPr>
            <a:r>
              <a:rPr lang="en-US" sz="1600" b="1" dirty="0">
                <a:latin typeface="Times New Roman" panose="02020603050405020304" pitchFamily="18" charset="0"/>
                <a:cs typeface="Times New Roman" panose="02020603050405020304" pitchFamily="18" charset="0"/>
              </a:rPr>
              <a:t> Smart Irrigation &amp; Precision Farming Module </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Automated Watering System: Adjusts irrigation based on real-time soil conditions.</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Precision Fertilization: Applies nutrients only where needed, reducing waste.</a:t>
            </a:r>
          </a:p>
          <a:p>
            <a:pPr>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Sustainable Resource Management: Ensures water and fertilizers are used efficiently.</a:t>
            </a:r>
          </a:p>
          <a:p>
            <a:pPr marL="0" indent="0">
              <a:buNone/>
            </a:pPr>
            <a:endParaRPr lang="en-IN" sz="1300" dirty="0"/>
          </a:p>
        </p:txBody>
      </p:sp>
    </p:spTree>
    <p:extLst>
      <p:ext uri="{BB962C8B-B14F-4D97-AF65-F5344CB8AC3E}">
        <p14:creationId xmlns:p14="http://schemas.microsoft.com/office/powerpoint/2010/main" val="3041541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CD0F7-ABE6-4C7B-A3C5-8358741F15D4}"/>
              </a:ext>
            </a:extLst>
          </p:cNvPr>
          <p:cNvSpPr>
            <a:spLocks noGrp="1"/>
          </p:cNvSpPr>
          <p:nvPr>
            <p:ph type="title"/>
          </p:nvPr>
        </p:nvSpPr>
        <p:spPr>
          <a:xfrm>
            <a:off x="838200" y="365126"/>
            <a:ext cx="10515600" cy="639216"/>
          </a:xfrm>
        </p:spPr>
        <p:txBody>
          <a:bodyPr>
            <a:normAutofit fontScale="90000"/>
          </a:bodyPr>
          <a:lstStyle/>
          <a:p>
            <a:r>
              <a:rPr lang="en-US" dirty="0">
                <a:latin typeface="Arial" panose="020B0604020202020204" pitchFamily="34" charset="0"/>
                <a:cs typeface="Arial" panose="020B0604020202020204" pitchFamily="34" charset="0"/>
              </a:rPr>
              <a:t>Output</a:t>
            </a:r>
            <a:endParaRPr lang="en-IN" dirty="0">
              <a:latin typeface="Arial" panose="020B0604020202020204" pitchFamily="34" charset="0"/>
              <a:cs typeface="Arial" panose="020B0604020202020204" pitchFamily="34" charset="0"/>
            </a:endParaRPr>
          </a:p>
        </p:txBody>
      </p:sp>
      <p:pic>
        <p:nvPicPr>
          <p:cNvPr id="4" name="Content Placeholder 3">
            <a:extLst>
              <a:ext uri="{FF2B5EF4-FFF2-40B4-BE49-F238E27FC236}">
                <a16:creationId xmlns:a16="http://schemas.microsoft.com/office/drawing/2014/main" id="{5CE023D6-D57E-459D-9A3B-F22A16458754}"/>
              </a:ext>
            </a:extLst>
          </p:cNvPr>
          <p:cNvPicPr>
            <a:picLocks noGrp="1" noChangeAspect="1"/>
          </p:cNvPicPr>
          <p:nvPr>
            <p:ph idx="1"/>
          </p:nvPr>
        </p:nvPicPr>
        <p:blipFill>
          <a:blip r:embed="rId2"/>
          <a:stretch>
            <a:fillRect/>
          </a:stretch>
        </p:blipFill>
        <p:spPr>
          <a:xfrm>
            <a:off x="838199" y="1004341"/>
            <a:ext cx="10515599" cy="5172622"/>
          </a:xfrm>
          <a:prstGeom prst="rect">
            <a:avLst/>
          </a:prstGeom>
        </p:spPr>
      </p:pic>
    </p:spTree>
    <p:extLst>
      <p:ext uri="{BB962C8B-B14F-4D97-AF65-F5344CB8AC3E}">
        <p14:creationId xmlns:p14="http://schemas.microsoft.com/office/powerpoint/2010/main" val="2714268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68D45-B799-4B2C-8B54-C5C97513E5C9}"/>
              </a:ext>
            </a:extLst>
          </p:cNvPr>
          <p:cNvSpPr>
            <a:spLocks noGrp="1"/>
          </p:cNvSpPr>
          <p:nvPr>
            <p:ph type="title"/>
          </p:nvPr>
        </p:nvSpPr>
        <p:spPr>
          <a:xfrm>
            <a:off x="838200" y="365126"/>
            <a:ext cx="10515600" cy="474324"/>
          </a:xfrm>
        </p:spPr>
        <p:txBody>
          <a:bodyPr>
            <a:normAutofit fontScale="90000"/>
          </a:bodyPr>
          <a:lstStyle/>
          <a:p>
            <a:r>
              <a:rPr lang="en-US" dirty="0"/>
              <a:t>Disease Prediction</a:t>
            </a:r>
            <a:endParaRPr lang="en-IN" dirty="0"/>
          </a:p>
        </p:txBody>
      </p:sp>
      <p:sp>
        <p:nvSpPr>
          <p:cNvPr id="6" name="Content Placeholder 5">
            <a:extLst>
              <a:ext uri="{FF2B5EF4-FFF2-40B4-BE49-F238E27FC236}">
                <a16:creationId xmlns:a16="http://schemas.microsoft.com/office/drawing/2014/main" id="{160EED98-F062-492E-915C-F2960076BFB9}"/>
              </a:ext>
            </a:extLst>
          </p:cNvPr>
          <p:cNvSpPr>
            <a:spLocks noGrp="1"/>
          </p:cNvSpPr>
          <p:nvPr>
            <p:ph idx="1"/>
          </p:nvPr>
        </p:nvSpPr>
        <p:spPr/>
        <p:txBody>
          <a:bodyPr/>
          <a:lstStyle/>
          <a:p>
            <a:r>
              <a:rPr lang="en-US" dirty="0"/>
              <a:t>                                                  </a:t>
            </a:r>
            <a:endParaRPr lang="en-IN" dirty="0"/>
          </a:p>
        </p:txBody>
      </p:sp>
      <p:pic>
        <p:nvPicPr>
          <p:cNvPr id="7" name="Picture 6">
            <a:extLst>
              <a:ext uri="{FF2B5EF4-FFF2-40B4-BE49-F238E27FC236}">
                <a16:creationId xmlns:a16="http://schemas.microsoft.com/office/drawing/2014/main" id="{381C1946-80F9-4420-94B2-0759BC87D42F}"/>
              </a:ext>
            </a:extLst>
          </p:cNvPr>
          <p:cNvPicPr>
            <a:picLocks noChangeAspect="1"/>
          </p:cNvPicPr>
          <p:nvPr/>
        </p:nvPicPr>
        <p:blipFill>
          <a:blip r:embed="rId2"/>
          <a:stretch>
            <a:fillRect/>
          </a:stretch>
        </p:blipFill>
        <p:spPr>
          <a:xfrm>
            <a:off x="838200" y="1095375"/>
            <a:ext cx="3645027" cy="3956310"/>
          </a:xfrm>
          <a:prstGeom prst="rect">
            <a:avLst/>
          </a:prstGeom>
        </p:spPr>
      </p:pic>
      <p:pic>
        <p:nvPicPr>
          <p:cNvPr id="8" name="Picture 7">
            <a:extLst>
              <a:ext uri="{FF2B5EF4-FFF2-40B4-BE49-F238E27FC236}">
                <a16:creationId xmlns:a16="http://schemas.microsoft.com/office/drawing/2014/main" id="{C38B5B10-DE21-477A-9B16-76DF98635B81}"/>
              </a:ext>
            </a:extLst>
          </p:cNvPr>
          <p:cNvPicPr>
            <a:picLocks noChangeAspect="1"/>
          </p:cNvPicPr>
          <p:nvPr/>
        </p:nvPicPr>
        <p:blipFill>
          <a:blip r:embed="rId3"/>
          <a:stretch>
            <a:fillRect/>
          </a:stretch>
        </p:blipFill>
        <p:spPr>
          <a:xfrm>
            <a:off x="4661355" y="851785"/>
            <a:ext cx="6751821" cy="2667156"/>
          </a:xfrm>
          <a:prstGeom prst="rect">
            <a:avLst/>
          </a:prstGeom>
        </p:spPr>
      </p:pic>
      <p:pic>
        <p:nvPicPr>
          <p:cNvPr id="9" name="Picture 8">
            <a:extLst>
              <a:ext uri="{FF2B5EF4-FFF2-40B4-BE49-F238E27FC236}">
                <a16:creationId xmlns:a16="http://schemas.microsoft.com/office/drawing/2014/main" id="{2A734330-978D-45F9-92C7-A400050980AD}"/>
              </a:ext>
            </a:extLst>
          </p:cNvPr>
          <p:cNvPicPr>
            <a:picLocks noChangeAspect="1"/>
          </p:cNvPicPr>
          <p:nvPr/>
        </p:nvPicPr>
        <p:blipFill>
          <a:blip r:embed="rId4"/>
          <a:stretch>
            <a:fillRect/>
          </a:stretch>
        </p:blipFill>
        <p:spPr>
          <a:xfrm>
            <a:off x="4751296" y="3223899"/>
            <a:ext cx="6571938" cy="2953064"/>
          </a:xfrm>
          <a:prstGeom prst="rect">
            <a:avLst/>
          </a:prstGeom>
        </p:spPr>
      </p:pic>
    </p:spTree>
    <p:extLst>
      <p:ext uri="{BB962C8B-B14F-4D97-AF65-F5344CB8AC3E}">
        <p14:creationId xmlns:p14="http://schemas.microsoft.com/office/powerpoint/2010/main" val="13356042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BEECE-5E43-4C8B-965C-F3D3DB74A851}"/>
              </a:ext>
            </a:extLst>
          </p:cNvPr>
          <p:cNvSpPr>
            <a:spLocks noGrp="1"/>
          </p:cNvSpPr>
          <p:nvPr>
            <p:ph type="title"/>
          </p:nvPr>
        </p:nvSpPr>
        <p:spPr>
          <a:xfrm>
            <a:off x="838200" y="365126"/>
            <a:ext cx="10515600" cy="609236"/>
          </a:xfrm>
        </p:spPr>
        <p:txBody>
          <a:bodyPr>
            <a:normAutofit fontScale="90000"/>
          </a:bodyPr>
          <a:lstStyle/>
          <a:p>
            <a:endParaRPr lang="en-IN" dirty="0"/>
          </a:p>
        </p:txBody>
      </p:sp>
      <p:pic>
        <p:nvPicPr>
          <p:cNvPr id="4" name="Content Placeholder 3">
            <a:extLst>
              <a:ext uri="{FF2B5EF4-FFF2-40B4-BE49-F238E27FC236}">
                <a16:creationId xmlns:a16="http://schemas.microsoft.com/office/drawing/2014/main" id="{2A767CD4-A757-4C74-B369-23345E4D7BA6}"/>
              </a:ext>
            </a:extLst>
          </p:cNvPr>
          <p:cNvPicPr>
            <a:picLocks noGrp="1" noChangeAspect="1"/>
          </p:cNvPicPr>
          <p:nvPr>
            <p:ph idx="1"/>
          </p:nvPr>
        </p:nvPicPr>
        <p:blipFill>
          <a:blip r:embed="rId2"/>
          <a:stretch>
            <a:fillRect/>
          </a:stretch>
        </p:blipFill>
        <p:spPr>
          <a:xfrm>
            <a:off x="626484" y="365126"/>
            <a:ext cx="5156274" cy="4377543"/>
          </a:xfrm>
          <a:prstGeom prst="rect">
            <a:avLst/>
          </a:prstGeom>
        </p:spPr>
      </p:pic>
      <p:pic>
        <p:nvPicPr>
          <p:cNvPr id="5" name="Picture 4">
            <a:extLst>
              <a:ext uri="{FF2B5EF4-FFF2-40B4-BE49-F238E27FC236}">
                <a16:creationId xmlns:a16="http://schemas.microsoft.com/office/drawing/2014/main" id="{961182C9-7828-4019-8329-8528C3DEA9E1}"/>
              </a:ext>
            </a:extLst>
          </p:cNvPr>
          <p:cNvPicPr>
            <a:picLocks noChangeAspect="1"/>
          </p:cNvPicPr>
          <p:nvPr/>
        </p:nvPicPr>
        <p:blipFill>
          <a:blip r:embed="rId3"/>
          <a:stretch>
            <a:fillRect/>
          </a:stretch>
        </p:blipFill>
        <p:spPr>
          <a:xfrm>
            <a:off x="626484" y="4742669"/>
            <a:ext cx="5156274" cy="685896"/>
          </a:xfrm>
          <a:prstGeom prst="rect">
            <a:avLst/>
          </a:prstGeom>
        </p:spPr>
      </p:pic>
      <p:pic>
        <p:nvPicPr>
          <p:cNvPr id="6" name="Picture 5">
            <a:extLst>
              <a:ext uri="{FF2B5EF4-FFF2-40B4-BE49-F238E27FC236}">
                <a16:creationId xmlns:a16="http://schemas.microsoft.com/office/drawing/2014/main" id="{11F9442E-4882-4B90-ABE0-C6045BD77FE2}"/>
              </a:ext>
            </a:extLst>
          </p:cNvPr>
          <p:cNvPicPr>
            <a:picLocks noChangeAspect="1"/>
          </p:cNvPicPr>
          <p:nvPr/>
        </p:nvPicPr>
        <p:blipFill>
          <a:blip r:embed="rId4"/>
          <a:stretch>
            <a:fillRect/>
          </a:stretch>
        </p:blipFill>
        <p:spPr>
          <a:xfrm>
            <a:off x="6096000" y="365126"/>
            <a:ext cx="5571042" cy="5855792"/>
          </a:xfrm>
          <a:prstGeom prst="rect">
            <a:avLst/>
          </a:prstGeom>
        </p:spPr>
      </p:pic>
    </p:spTree>
    <p:extLst>
      <p:ext uri="{BB962C8B-B14F-4D97-AF65-F5344CB8AC3E}">
        <p14:creationId xmlns:p14="http://schemas.microsoft.com/office/powerpoint/2010/main" val="1810760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301D8-0FC6-4636-AC61-8243FDB93A6A}"/>
              </a:ext>
            </a:extLst>
          </p:cNvPr>
          <p:cNvSpPr>
            <a:spLocks noGrp="1"/>
          </p:cNvSpPr>
          <p:nvPr>
            <p:ph type="title"/>
          </p:nvPr>
        </p:nvSpPr>
        <p:spPr/>
        <p:txBody>
          <a:bodyPr/>
          <a:lstStyle/>
          <a:p>
            <a:endParaRPr lang="en-IN" dirty="0"/>
          </a:p>
        </p:txBody>
      </p:sp>
      <p:pic>
        <p:nvPicPr>
          <p:cNvPr id="4" name="Content Placeholder 3">
            <a:extLst>
              <a:ext uri="{FF2B5EF4-FFF2-40B4-BE49-F238E27FC236}">
                <a16:creationId xmlns:a16="http://schemas.microsoft.com/office/drawing/2014/main" id="{F881CC7F-3F5E-4AB4-BAAF-78F5517FF130}"/>
              </a:ext>
            </a:extLst>
          </p:cNvPr>
          <p:cNvPicPr>
            <a:picLocks noGrp="1" noChangeAspect="1"/>
          </p:cNvPicPr>
          <p:nvPr>
            <p:ph idx="1"/>
          </p:nvPr>
        </p:nvPicPr>
        <p:blipFill>
          <a:blip r:embed="rId2"/>
          <a:stretch>
            <a:fillRect/>
          </a:stretch>
        </p:blipFill>
        <p:spPr>
          <a:xfrm>
            <a:off x="628338" y="365125"/>
            <a:ext cx="7466351" cy="5151255"/>
          </a:xfrm>
          <a:prstGeom prst="rect">
            <a:avLst/>
          </a:prstGeom>
        </p:spPr>
      </p:pic>
      <p:pic>
        <p:nvPicPr>
          <p:cNvPr id="5" name="Picture 4">
            <a:extLst>
              <a:ext uri="{FF2B5EF4-FFF2-40B4-BE49-F238E27FC236}">
                <a16:creationId xmlns:a16="http://schemas.microsoft.com/office/drawing/2014/main" id="{869B58F3-BAEE-4824-97BD-FDEF094FF79F}"/>
              </a:ext>
            </a:extLst>
          </p:cNvPr>
          <p:cNvPicPr>
            <a:picLocks noChangeAspect="1"/>
          </p:cNvPicPr>
          <p:nvPr/>
        </p:nvPicPr>
        <p:blipFill>
          <a:blip r:embed="rId3"/>
          <a:stretch>
            <a:fillRect/>
          </a:stretch>
        </p:blipFill>
        <p:spPr>
          <a:xfrm>
            <a:off x="5724649" y="365125"/>
            <a:ext cx="6049219" cy="5151255"/>
          </a:xfrm>
          <a:prstGeom prst="rect">
            <a:avLst/>
          </a:prstGeom>
        </p:spPr>
      </p:pic>
    </p:spTree>
    <p:extLst>
      <p:ext uri="{BB962C8B-B14F-4D97-AF65-F5344CB8AC3E}">
        <p14:creationId xmlns:p14="http://schemas.microsoft.com/office/powerpoint/2010/main" val="290495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6928C-AEFA-4B33-A35D-5EC269D87518}"/>
              </a:ext>
            </a:extLst>
          </p:cNvPr>
          <p:cNvSpPr>
            <a:spLocks noGrp="1"/>
          </p:cNvSpPr>
          <p:nvPr>
            <p:ph type="title"/>
          </p:nvPr>
        </p:nvSpPr>
        <p:spPr/>
        <p:txBody>
          <a:bodyPr/>
          <a:lstStyle/>
          <a:p>
            <a:endParaRPr lang="en-IN" dirty="0"/>
          </a:p>
        </p:txBody>
      </p:sp>
      <p:pic>
        <p:nvPicPr>
          <p:cNvPr id="8" name="Content Placeholder 7">
            <a:extLst>
              <a:ext uri="{FF2B5EF4-FFF2-40B4-BE49-F238E27FC236}">
                <a16:creationId xmlns:a16="http://schemas.microsoft.com/office/drawing/2014/main" id="{A3FCC73B-CB38-4254-A2D6-60F0A439C582}"/>
              </a:ext>
            </a:extLst>
          </p:cNvPr>
          <p:cNvPicPr>
            <a:picLocks noGrp="1" noChangeAspect="1"/>
          </p:cNvPicPr>
          <p:nvPr>
            <p:ph idx="1"/>
          </p:nvPr>
        </p:nvPicPr>
        <p:blipFill rotWithShape="1">
          <a:blip r:embed="rId2"/>
          <a:srcRect r="29232"/>
          <a:stretch/>
        </p:blipFill>
        <p:spPr>
          <a:xfrm>
            <a:off x="838201" y="365126"/>
            <a:ext cx="5067924" cy="5697668"/>
          </a:xfrm>
          <a:prstGeom prst="rect">
            <a:avLst/>
          </a:prstGeom>
        </p:spPr>
      </p:pic>
      <p:pic>
        <p:nvPicPr>
          <p:cNvPr id="9" name="Picture 8">
            <a:extLst>
              <a:ext uri="{FF2B5EF4-FFF2-40B4-BE49-F238E27FC236}">
                <a16:creationId xmlns:a16="http://schemas.microsoft.com/office/drawing/2014/main" id="{379007F0-C704-47C2-A0D0-992230F5B86D}"/>
              </a:ext>
            </a:extLst>
          </p:cNvPr>
          <p:cNvPicPr>
            <a:picLocks noChangeAspect="1"/>
          </p:cNvPicPr>
          <p:nvPr/>
        </p:nvPicPr>
        <p:blipFill>
          <a:blip r:embed="rId3"/>
          <a:stretch>
            <a:fillRect/>
          </a:stretch>
        </p:blipFill>
        <p:spPr>
          <a:xfrm>
            <a:off x="5906125" y="365125"/>
            <a:ext cx="5681272" cy="5855794"/>
          </a:xfrm>
          <a:prstGeom prst="rect">
            <a:avLst/>
          </a:prstGeom>
        </p:spPr>
      </p:pic>
    </p:spTree>
    <p:extLst>
      <p:ext uri="{BB962C8B-B14F-4D97-AF65-F5344CB8AC3E}">
        <p14:creationId xmlns:p14="http://schemas.microsoft.com/office/powerpoint/2010/main" val="6948983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2B0EE2B-7111-44B7-A849-680CDECCF2C9}"/>
              </a:ext>
            </a:extLst>
          </p:cNvPr>
          <p:cNvPicPr>
            <a:picLocks noGrp="1" noChangeAspect="1"/>
          </p:cNvPicPr>
          <p:nvPr>
            <p:ph idx="1"/>
          </p:nvPr>
        </p:nvPicPr>
        <p:blipFill>
          <a:blip r:embed="rId2"/>
          <a:stretch>
            <a:fillRect/>
          </a:stretch>
        </p:blipFill>
        <p:spPr>
          <a:xfrm>
            <a:off x="1469036" y="569625"/>
            <a:ext cx="9203962" cy="5607337"/>
          </a:xfrm>
          <a:prstGeom prst="rect">
            <a:avLst/>
          </a:prstGeom>
        </p:spPr>
      </p:pic>
    </p:spTree>
    <p:extLst>
      <p:ext uri="{BB962C8B-B14F-4D97-AF65-F5344CB8AC3E}">
        <p14:creationId xmlns:p14="http://schemas.microsoft.com/office/powerpoint/2010/main" val="599115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E6EBD-421C-45A4-B2FB-6733EBD666A8}"/>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E440D14E-55E9-4C55-9A52-654ECB31BB8A}"/>
              </a:ext>
            </a:extLst>
          </p:cNvPr>
          <p:cNvPicPr>
            <a:picLocks noGrp="1" noChangeAspect="1"/>
          </p:cNvPicPr>
          <p:nvPr>
            <p:ph idx="1"/>
          </p:nvPr>
        </p:nvPicPr>
        <p:blipFill>
          <a:blip r:embed="rId2"/>
          <a:stretch>
            <a:fillRect/>
          </a:stretch>
        </p:blipFill>
        <p:spPr>
          <a:xfrm>
            <a:off x="838200" y="579730"/>
            <a:ext cx="10515599" cy="5811838"/>
          </a:xfrm>
          <a:prstGeom prst="rect">
            <a:avLst/>
          </a:prstGeom>
        </p:spPr>
      </p:pic>
    </p:spTree>
    <p:extLst>
      <p:ext uri="{BB962C8B-B14F-4D97-AF65-F5344CB8AC3E}">
        <p14:creationId xmlns:p14="http://schemas.microsoft.com/office/powerpoint/2010/main" val="1446210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8EEA7-462C-4DC7-B807-245137A5F50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845DA4D-A897-40E5-99C5-B1708F6E4AF9}"/>
              </a:ext>
            </a:extLst>
          </p:cNvPr>
          <p:cNvPicPr>
            <a:picLocks noGrp="1" noChangeAspect="1"/>
          </p:cNvPicPr>
          <p:nvPr>
            <p:ph idx="1"/>
          </p:nvPr>
        </p:nvPicPr>
        <p:blipFill rotWithShape="1">
          <a:blip r:embed="rId2"/>
          <a:srcRect t="32449"/>
          <a:stretch/>
        </p:blipFill>
        <p:spPr>
          <a:xfrm>
            <a:off x="958120" y="4047344"/>
            <a:ext cx="10515600" cy="1325563"/>
          </a:xfrm>
          <a:prstGeom prst="rect">
            <a:avLst/>
          </a:prstGeom>
        </p:spPr>
      </p:pic>
      <p:pic>
        <p:nvPicPr>
          <p:cNvPr id="4" name="Picture 3">
            <a:extLst>
              <a:ext uri="{FF2B5EF4-FFF2-40B4-BE49-F238E27FC236}">
                <a16:creationId xmlns:a16="http://schemas.microsoft.com/office/drawing/2014/main" id="{A8392C1F-6C4D-40EF-BA9B-C532644DDD89}"/>
              </a:ext>
            </a:extLst>
          </p:cNvPr>
          <p:cNvPicPr>
            <a:picLocks noChangeAspect="1"/>
          </p:cNvPicPr>
          <p:nvPr/>
        </p:nvPicPr>
        <p:blipFill>
          <a:blip r:embed="rId3"/>
          <a:stretch>
            <a:fillRect/>
          </a:stretch>
        </p:blipFill>
        <p:spPr>
          <a:xfrm>
            <a:off x="958121" y="319074"/>
            <a:ext cx="10515599" cy="3682219"/>
          </a:xfrm>
          <a:prstGeom prst="rect">
            <a:avLst/>
          </a:prstGeom>
        </p:spPr>
      </p:pic>
    </p:spTree>
    <p:extLst>
      <p:ext uri="{BB962C8B-B14F-4D97-AF65-F5344CB8AC3E}">
        <p14:creationId xmlns:p14="http://schemas.microsoft.com/office/powerpoint/2010/main" val="17550144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34E2F5-9342-4660-9DA4-FBECCC4BBEEF}"/>
              </a:ext>
            </a:extLst>
          </p:cNvPr>
          <p:cNvSpPr txBox="1"/>
          <p:nvPr/>
        </p:nvSpPr>
        <p:spPr>
          <a:xfrm>
            <a:off x="3530081" y="2631232"/>
            <a:ext cx="6867331" cy="923330"/>
          </a:xfrm>
          <a:prstGeom prst="rect">
            <a:avLst/>
          </a:prstGeom>
          <a:noFill/>
        </p:spPr>
        <p:txBody>
          <a:bodyPr wrap="square" rtlCol="0">
            <a:spAutoFit/>
          </a:bodyPr>
          <a:lstStyle/>
          <a:p>
            <a:r>
              <a:rPr lang="en-US" sz="5400" dirty="0">
                <a:latin typeface="Algerian" panose="04020705040A02060702" pitchFamily="82" charset="0"/>
              </a:rPr>
              <a:t>THANK YOU….</a:t>
            </a:r>
            <a:endParaRPr lang="en-IN" sz="5400" dirty="0">
              <a:latin typeface="Algerian" panose="04020705040A02060702" pitchFamily="82" charset="0"/>
            </a:endParaRPr>
          </a:p>
        </p:txBody>
      </p:sp>
    </p:spTree>
    <p:extLst>
      <p:ext uri="{BB962C8B-B14F-4D97-AF65-F5344CB8AC3E}">
        <p14:creationId xmlns:p14="http://schemas.microsoft.com/office/powerpoint/2010/main" val="8461267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TM04033925[[fn=Droplet]]</Template>
  <TotalTime>469</TotalTime>
  <Words>1355</Words>
  <Application>Microsoft Office PowerPoint</Application>
  <PresentationFormat>Widescreen</PresentationFormat>
  <Paragraphs>152</Paragraphs>
  <Slides>21</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Algerian</vt:lpstr>
      <vt:lpstr>Arial</vt:lpstr>
      <vt:lpstr>Calibri</vt:lpstr>
      <vt:lpstr>Calibri Light</vt:lpstr>
      <vt:lpstr>Times New Roman</vt:lpstr>
      <vt:lpstr>Tw Cen MT</vt:lpstr>
      <vt:lpstr>Wingdings</vt:lpstr>
      <vt:lpstr>Office Theme</vt:lpstr>
      <vt:lpstr>Droplet</vt:lpstr>
      <vt:lpstr>PowerPoint Presentation</vt:lpstr>
      <vt:lpstr>Abstract</vt:lpstr>
      <vt:lpstr>Introduction</vt:lpstr>
      <vt:lpstr>PowerPoint Presentation</vt:lpstr>
      <vt:lpstr>Existing System </vt:lpstr>
      <vt:lpstr>Disadvantages </vt:lpstr>
      <vt:lpstr>Proposed System </vt:lpstr>
      <vt:lpstr>Advantages</vt:lpstr>
      <vt:lpstr>Architecture Diagram </vt:lpstr>
      <vt:lpstr>Technique/Algorithm </vt:lpstr>
      <vt:lpstr>Modules </vt:lpstr>
      <vt:lpstr>Modules </vt:lpstr>
      <vt:lpstr>Output</vt:lpstr>
      <vt:lpstr>Disease Prediction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Gayathri Kingston</dc:creator>
  <cp:lastModifiedBy>hp</cp:lastModifiedBy>
  <cp:revision>66</cp:revision>
  <dcterms:created xsi:type="dcterms:W3CDTF">2025-03-01T03:07:20Z</dcterms:created>
  <dcterms:modified xsi:type="dcterms:W3CDTF">2025-05-29T11:32:11Z</dcterms:modified>
</cp:coreProperties>
</file>